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Nunito"/>
      <p:regular r:id="rId24"/>
      <p:bold r:id="rId25"/>
      <p:italic r:id="rId26"/>
      <p:boldItalic r:id="rId27"/>
    </p:embeddedFont>
    <p:embeddedFont>
      <p:font typeface="Maven Pro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Nunito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-italic.fntdata"/><Relationship Id="rId25" Type="http://schemas.openxmlformats.org/officeDocument/2006/relationships/font" Target="fonts/Nunito-bold.fntdata"/><Relationship Id="rId28" Type="http://schemas.openxmlformats.org/officeDocument/2006/relationships/font" Target="fonts/MavenPro-regular.fntdata"/><Relationship Id="rId27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avenPr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40b061ea3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40b061ea3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40b061ea3_0_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40b061ea3_0_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40b061ea3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40b061ea3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940b061ea3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940b061ea3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40b061ea3_0_3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40b061ea3_0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40b061ea3_0_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940b061ea3_0_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40b061ea3_0_3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940b061ea3_0_3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940b061ea3_0_3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940b061ea3_0_3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40b061ea3_0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40b061ea3_0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40b061ea3_0_3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40b061ea3_0_3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940b061ea3_0_3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940b061ea3_0_3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40b061ea3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940b061ea3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940b061ea3_0_4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940b061ea3_0_4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940b061ea3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940b061ea3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940b061ea3_0_4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940b061ea3_0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940b061ea3_0_4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940b061ea3_0_4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940b061ea3_0_4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940b061ea3_0_4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VITE &amp; GOURMAND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fr"/>
              <a:t>Application Web de Traiteur Événementiel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t/>
            </a:r>
            <a:endParaRPr sz="5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fr" sz="5200"/>
              <a:t>Présenté par : Yves Mukuna</a:t>
            </a:r>
            <a:endParaRPr sz="5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fr" sz="5200"/>
              <a:t>Formation : [Votre nom de formation]</a:t>
            </a:r>
            <a:endParaRPr sz="5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fr" sz="5200"/>
              <a:t>Date : [Date de soutenance]</a:t>
            </a:r>
            <a:endParaRPr sz="5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t/>
            </a:r>
            <a:endParaRPr sz="52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fr" sz="5200"/>
              <a:t>https://vite-gourmand.fr</a:t>
            </a:r>
            <a:endParaRPr sz="5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SOMMAIRE</a:t>
            </a:r>
            <a:endParaRPr sz="3600"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1</a:t>
            </a:r>
            <a:r>
              <a:rPr lang="fr" sz="1800"/>
              <a:t>. Contexte &amp; Objectifs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2. Analyse des Besoins  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3. Modélisation des Données (MCD)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4. Architecture Technique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5. Fonctionnalités Développées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6. Sécurité &amp; RGPD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7. Tests Automatisés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8. Déploiement en Production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9. Démonstration Live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/>
              <a:t>10. Bilan &amp; Perspectives</a:t>
            </a:r>
            <a:endParaRPr sz="1800"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CONTEXTE DU PROJET</a:t>
            </a:r>
            <a:endParaRPr sz="3600"/>
          </a:p>
        </p:txBody>
      </p:sp>
      <p:sp>
        <p:nvSpPr>
          <p:cNvPr id="141" name="Google Shape;141;p15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700"/>
              <a:t>🎯</a:t>
            </a:r>
            <a:r>
              <a:rPr lang="fr"/>
              <a:t> </a:t>
            </a:r>
            <a:r>
              <a:rPr lang="fr" sz="7254"/>
              <a:t>Problématique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54"/>
              <a:t>Un traiteur événementiel souhaite digitaliser son activité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654"/>
              <a:t>📋</a:t>
            </a:r>
            <a:r>
              <a:rPr lang="fr" sz="7254"/>
              <a:t> Objectifs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54"/>
              <a:t>- Permettre aux clients de commander des menus en ligne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54"/>
              <a:t>- Faciliter la gestion des commandes pour l'équipe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54"/>
              <a:t>- Offrir un outil d'administration complet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54"/>
              <a:t>- Assurer la sécurité et conformité RGPD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654"/>
              <a:t>⏱️</a:t>
            </a:r>
            <a:r>
              <a:rPr lang="fr" sz="7254"/>
              <a:t> Durée : 12 jours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654"/>
              <a:t>📅</a:t>
            </a:r>
            <a:r>
              <a:rPr lang="fr" sz="7254"/>
              <a:t> Février 2025</a:t>
            </a:r>
            <a:endParaRPr sz="725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fr" sz="1100">
                <a:solidFill>
                  <a:srgbClr val="EAECF0"/>
                </a:solidFill>
                <a:latin typeface="Arial"/>
                <a:ea typeface="Arial"/>
                <a:cs typeface="Arial"/>
                <a:sym typeface="Arial"/>
              </a:rPr>
              <a:t>ANALYSE DES BESOINS</a:t>
            </a:r>
            <a:endParaRPr b="0" sz="1100">
              <a:solidFill>
                <a:srgbClr val="EAECF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ANALYSE DES BESOINS</a:t>
            </a:r>
            <a:endParaRPr sz="3600"/>
          </a:p>
        </p:txBody>
      </p:sp>
      <p:sp>
        <p:nvSpPr>
          <p:cNvPr id="147" name="Google Shape;147;p16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283"/>
              <a:t>Acteurs Identifiés</a:t>
            </a:r>
            <a:endParaRPr b="1" sz="1128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085"/>
              <a:t>👥</a:t>
            </a:r>
            <a:r>
              <a:rPr lang="fr"/>
              <a:t> </a:t>
            </a:r>
            <a:r>
              <a:rPr b="1" lang="fr" sz="6838"/>
              <a:t>Visiteurs</a:t>
            </a:r>
            <a:endParaRPr b="1" sz="683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Consultation menus, Inscription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811"/>
              <a:t>👤</a:t>
            </a:r>
            <a:r>
              <a:rPr b="1" lang="fr"/>
              <a:t> </a:t>
            </a:r>
            <a:r>
              <a:rPr b="1" lang="fr" sz="8900"/>
              <a:t>Clients</a:t>
            </a:r>
            <a:r>
              <a:rPr b="1" lang="fr"/>
              <a:t> (</a:t>
            </a:r>
            <a:r>
              <a:rPr b="1" lang="fr" sz="8992"/>
              <a:t>Utilisateurs</a:t>
            </a:r>
            <a:r>
              <a:rPr b="1" lang="fr"/>
              <a:t>)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Commandes, Suivi, Avis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668"/>
              <a:t>👨‍💼</a:t>
            </a:r>
            <a:r>
              <a:rPr b="1" lang="fr"/>
              <a:t> </a:t>
            </a:r>
            <a:r>
              <a:rPr b="1" lang="fr" sz="6838"/>
              <a:t>Employés</a:t>
            </a:r>
            <a:endParaRPr b="1" sz="683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Gestion commandes, Validation avis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642"/>
              <a:t>🔧</a:t>
            </a:r>
            <a:r>
              <a:rPr b="1" lang="fr"/>
              <a:t> </a:t>
            </a:r>
            <a:r>
              <a:rPr b="1" lang="fr" sz="6838"/>
              <a:t>Administrateurs</a:t>
            </a:r>
            <a:endParaRPr b="1" sz="683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Gestion complète (menus, plats, users)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146"/>
              <a:t>📊</a:t>
            </a:r>
            <a:r>
              <a:rPr b="1" lang="fr" sz="4665"/>
              <a:t> </a:t>
            </a:r>
            <a:r>
              <a:rPr b="1" lang="fr" sz="6838"/>
              <a:t>Total</a:t>
            </a:r>
            <a:r>
              <a:rPr b="1" lang="fr" sz="1607"/>
              <a:t> : </a:t>
            </a:r>
            <a:r>
              <a:rPr b="1" lang="fr" sz="6838"/>
              <a:t>29</a:t>
            </a:r>
            <a:r>
              <a:rPr b="1" lang="fr" sz="1607"/>
              <a:t> </a:t>
            </a:r>
            <a:r>
              <a:rPr b="1" lang="fr" sz="6838"/>
              <a:t>cas</a:t>
            </a:r>
            <a:r>
              <a:rPr b="1" lang="fr" sz="1607"/>
              <a:t> </a:t>
            </a:r>
            <a:r>
              <a:rPr b="1" lang="fr" sz="6838"/>
              <a:t>d'usage</a:t>
            </a:r>
            <a:endParaRPr b="1" sz="6838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/>
              <a:t>MODÈLE CONCEPTUEL DE DONNÉES</a:t>
            </a:r>
            <a:endParaRPr sz="3200"/>
          </a:p>
        </p:txBody>
      </p:sp>
      <p:sp>
        <p:nvSpPr>
          <p:cNvPr id="153" name="Google Shape;153;p17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600">
                <a:latin typeface="Maven Pro"/>
                <a:ea typeface="Maven Pro"/>
                <a:cs typeface="Maven Pro"/>
                <a:sym typeface="Maven Pro"/>
              </a:rPr>
              <a:t>📦 13 Tables Principales</a:t>
            </a:r>
            <a:endParaRPr b="1" sz="96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000">
                <a:latin typeface="Maven Pro"/>
                <a:ea typeface="Maven Pro"/>
                <a:cs typeface="Maven Pro"/>
                <a:sym typeface="Maven Pro"/>
              </a:rPr>
              <a:t>Users, Menus, Plats, Allergènes</a:t>
            </a:r>
            <a:endParaRPr b="1" sz="40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000">
                <a:latin typeface="Maven Pro"/>
                <a:ea typeface="Maven Pro"/>
                <a:cs typeface="Maven Pro"/>
                <a:sym typeface="Maven Pro"/>
              </a:rPr>
              <a:t>Commandes, Avis, Contacts</a:t>
            </a:r>
            <a:endParaRPr b="1" sz="40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000">
                <a:latin typeface="Maven Pro"/>
                <a:ea typeface="Maven Pro"/>
                <a:cs typeface="Maven Pro"/>
                <a:sym typeface="Maven Pro"/>
              </a:rPr>
              <a:t>Tables associatives (menu_plat, plat_allergene)</a:t>
            </a:r>
            <a:endParaRPr b="1" sz="40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6400">
                <a:latin typeface="Maven Pro"/>
                <a:ea typeface="Maven Pro"/>
                <a:cs typeface="Maven Pro"/>
                <a:sym typeface="Maven Pro"/>
              </a:rPr>
              <a:t>Relations Clés :</a:t>
            </a:r>
            <a:endParaRPr b="1" sz="6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00">
                <a:latin typeface="Maven Pro"/>
                <a:ea typeface="Maven Pro"/>
                <a:cs typeface="Maven Pro"/>
                <a:sym typeface="Maven Pro"/>
              </a:rPr>
              <a:t>Users (1) ───&lt; Commandes (N)</a:t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00">
                <a:latin typeface="Maven Pro"/>
                <a:ea typeface="Maven Pro"/>
                <a:cs typeface="Maven Pro"/>
                <a:sym typeface="Maven Pro"/>
              </a:rPr>
              <a:t>Users (1) ───&lt; Avis (N)</a:t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00">
                <a:latin typeface="Maven Pro"/>
                <a:ea typeface="Maven Pro"/>
                <a:cs typeface="Maven Pro"/>
                <a:sym typeface="Maven Pro"/>
              </a:rPr>
              <a:t>Menus (1) ───&lt; Commandes (N)</a:t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00">
                <a:latin typeface="Maven Pro"/>
                <a:ea typeface="Maven Pro"/>
                <a:cs typeface="Maven Pro"/>
                <a:sym typeface="Maven Pro"/>
              </a:rPr>
              <a:t>Menus (N) &gt;───&lt; Plats (N)</a:t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00">
                <a:latin typeface="Maven Pro"/>
                <a:ea typeface="Maven Pro"/>
                <a:cs typeface="Maven Pro"/>
                <a:sym typeface="Maven Pro"/>
              </a:rPr>
              <a:t>Plats (N) &gt;───&lt; Allergènes (N)</a:t>
            </a:r>
            <a:endParaRPr b="1" sz="44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2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200">
                <a:latin typeface="Maven Pro"/>
                <a:ea typeface="Maven Pro"/>
                <a:cs typeface="Maven Pro"/>
                <a:sym typeface="Maven Pro"/>
              </a:rPr>
              <a:t>✅ Normalisation 3NF</a:t>
            </a:r>
            <a:endParaRPr b="1" sz="72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200">
                <a:latin typeface="Maven Pro"/>
                <a:ea typeface="Maven Pro"/>
                <a:cs typeface="Maven Pro"/>
                <a:sym typeface="Maven Pro"/>
              </a:rPr>
              <a:t>✅ Intégrité référentielle</a:t>
            </a:r>
            <a:endParaRPr b="1" sz="72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200">
                <a:latin typeface="Maven Pro"/>
                <a:ea typeface="Maven Pro"/>
                <a:cs typeface="Maven Pro"/>
                <a:sym typeface="Maven Pro"/>
              </a:rPr>
              <a:t>✅ Index sur colonnes critiques</a:t>
            </a:r>
            <a:endParaRPr b="1" sz="7200">
              <a:latin typeface="Maven Pro"/>
              <a:ea typeface="Maven Pro"/>
              <a:cs typeface="Maven Pro"/>
              <a:sym typeface="Maven Pr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b="1" sz="2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8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ARCHITECTURE TECHNIQUE</a:t>
            </a:r>
            <a:endParaRPr sz="3600"/>
          </a:p>
        </p:txBody>
      </p:sp>
      <p:sp>
        <p:nvSpPr>
          <p:cNvPr id="159" name="Google Shape;159;p18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207"/>
              <a:t>Architecture 3-Tiers</a:t>
            </a:r>
            <a:endParaRPr b="1" sz="720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┌─────────────────┐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Frontend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React 18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(SPA)   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└────────┬────────┘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         │ API REST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         │ (HTTPS)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         ▼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┌─────────────────┐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Backend 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Laravel 10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  PHP 8.2 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└────────┬────────┘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      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         ▼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┌─────────────────┐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Base de Données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│ PostgreSQL 14   │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365"/>
              <a:t>└─────────────────┘</a:t>
            </a:r>
            <a:endParaRPr sz="336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Serveur : Nginx (VPS OVH Ubuntu 22.04)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/>
              <a:t>JUSTIFICATION DES CHOIX TECHNIQUES</a:t>
            </a:r>
            <a:endParaRPr sz="3200"/>
          </a:p>
        </p:txBody>
      </p:sp>
      <p:sp>
        <p:nvSpPr>
          <p:cNvPr id="165" name="Google Shape;165;p19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12"/>
              <a:t>🎨 React 18</a:t>
            </a:r>
            <a:endParaRPr b="1" sz="881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4992"/>
              <a:t>→ Composants réutilisables, écosystème riche,</a:t>
            </a:r>
            <a:endParaRPr sz="499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61"/>
              <a:t>   expérience SPA fluide</a:t>
            </a:r>
            <a:endParaRPr sz="656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116"/>
              <a:t>⚙️ Laravel 10</a:t>
            </a:r>
            <a:endParaRPr b="1" sz="911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→ Framework PHP robuste, Eloquent ORM,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   sécurité intégrée, documentation complète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68"/>
              <a:t>🗄️ PostgreSQL 14</a:t>
            </a:r>
            <a:endParaRPr b="1" sz="906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→ SGBD fiable, respect standards SQL,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   intégrité des données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110"/>
              <a:t>🔐 Laravel Sanctum</a:t>
            </a:r>
            <a:endParaRPr b="1" sz="911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→ Authentification API simple et sécurisée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  par tokens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76"/>
              <a:t>🌐 Nginx</a:t>
            </a:r>
            <a:endParaRPr b="1" sz="887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00"/>
              <a:t>→ Serveur web performant, proxy inverse efficace</a:t>
            </a:r>
            <a:endParaRPr sz="65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FONCTIONNALITÉS CÔTÉ CLIENT</a:t>
            </a:r>
            <a:endParaRPr sz="3600"/>
          </a:p>
        </p:txBody>
      </p:sp>
      <p:sp>
        <p:nvSpPr>
          <p:cNvPr id="171" name="Google Shape;171;p20"/>
          <p:cNvSpPr txBox="1"/>
          <p:nvPr>
            <p:ph idx="1" type="body"/>
          </p:nvPr>
        </p:nvSpPr>
        <p:spPr>
          <a:xfrm>
            <a:off x="1501600" y="1990050"/>
            <a:ext cx="6733800" cy="222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2" name="Google Shape;172;p20" title="01_page_accuei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2700" y="1990050"/>
            <a:ext cx="6832701" cy="222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/>
          <p:nvPr/>
        </p:nvSpPr>
        <p:spPr>
          <a:xfrm>
            <a:off x="1402600" y="4217850"/>
            <a:ext cx="68328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Inscription / Connexion sécurisée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Consultation catalogue menus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Passage de commandes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Suivi commandes en temps réel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Système d'avis (note + commentaire)</a:t>
            </a:r>
            <a:endParaRPr sz="2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/>
              <a:t>✅ Gestion données RGPD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FONCTIONNALITÉS ADMINISTRATION</a:t>
            </a:r>
            <a:endParaRPr/>
          </a:p>
        </p:txBody>
      </p:sp>
      <p:sp>
        <p:nvSpPr>
          <p:cNvPr id="179" name="Google Shape;179;p21"/>
          <p:cNvSpPr txBox="1"/>
          <p:nvPr>
            <p:ph idx="1" type="body"/>
          </p:nvPr>
        </p:nvSpPr>
        <p:spPr>
          <a:xfrm>
            <a:off x="1303800" y="2892825"/>
            <a:ext cx="7030500" cy="16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4475"/>
              <a:t>👨‍💼 Employés</a:t>
            </a:r>
            <a:endParaRPr b="1" sz="4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</a:t>
            </a:r>
            <a:r>
              <a:rPr lang="fr" sz="7475"/>
              <a:t> Gestion des commandes (statuts)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Validation avis clients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Création/modification menus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🔧 Administrateurs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CRUD Menus / Plats / Allergènes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Gestion utilisateurs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Suppression menus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75"/>
              <a:t>- Accès complet</a:t>
            </a:r>
            <a:endParaRPr sz="7475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80" name="Google Shape;180;p21" title="09_dashboard_adm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9925" y="0"/>
            <a:ext cx="6954373" cy="2793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MESURES DE SÉCURITÉ</a:t>
            </a:r>
            <a:endParaRPr sz="3600"/>
          </a:p>
        </p:txBody>
      </p:sp>
      <p:sp>
        <p:nvSpPr>
          <p:cNvPr id="186" name="Google Shape;186;p22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76"/>
              <a:t>🔒 Authentification</a:t>
            </a:r>
            <a:endParaRPr b="1" sz="887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T</a:t>
            </a:r>
            <a:r>
              <a:rPr lang="fr" sz="6643"/>
              <a:t>okens Sanctum (API)</a:t>
            </a:r>
            <a:endParaRPr sz="66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643"/>
              <a:t>- Mots de passe hashés (bcrypt)</a:t>
            </a:r>
            <a:endParaRPr sz="66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643"/>
              <a:t>- Complexité : 10+ caractères, majuscules, chiffres, symboles</a:t>
            </a:r>
            <a:endParaRPr sz="664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37"/>
              <a:t>🔒 Protection des Données</a:t>
            </a:r>
            <a:endParaRPr b="1" sz="883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</a:t>
            </a:r>
            <a:r>
              <a:rPr lang="fr" sz="5162"/>
              <a:t>HTTPS obligatoire (SSL)</a:t>
            </a:r>
            <a:endParaRPr sz="516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162"/>
              <a:t>- Headers HTTP sécurisés (CSP, HSTS, X-Frame-Options)</a:t>
            </a:r>
            <a:endParaRPr sz="516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162"/>
              <a:t>- CORS configuré strictement</a:t>
            </a:r>
            <a:endParaRPr sz="516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63"/>
              <a:t>🔒 Contrôle d'Accès</a:t>
            </a:r>
            <a:endParaRPr b="1" sz="886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</a:t>
            </a:r>
            <a:r>
              <a:rPr lang="fr" sz="6746"/>
              <a:t> Policies (autorisations par rôle)</a:t>
            </a:r>
            <a:endParaRPr sz="67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746"/>
              <a:t>- FormRequests (validation entrées)</a:t>
            </a:r>
            <a:endParaRPr sz="67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746"/>
              <a:t>- Rate Limiting (5 login/min, 60 API/min)</a:t>
            </a:r>
            <a:endParaRPr sz="6746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CONFORMITÉ RGPD</a:t>
            </a:r>
            <a:endParaRPr sz="3600"/>
          </a:p>
        </p:txBody>
      </p:sp>
      <p:sp>
        <p:nvSpPr>
          <p:cNvPr id="192" name="Google Shape;192;p23"/>
          <p:cNvSpPr txBox="1"/>
          <p:nvPr>
            <p:ph idx="1" type="body"/>
          </p:nvPr>
        </p:nvSpPr>
        <p:spPr>
          <a:xfrm>
            <a:off x="1303800" y="3408225"/>
            <a:ext cx="7030500" cy="17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511"/>
              <a:t>📋 Droits Implémentés</a:t>
            </a:r>
            <a:endParaRPr b="1" sz="1151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4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7418"/>
              <a:t>✅ </a:t>
            </a:r>
            <a:r>
              <a:rPr b="1" lang="fr" sz="9018"/>
              <a:t>Transparence</a:t>
            </a:r>
            <a:endParaRPr b="1" sz="90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18"/>
              <a:t>Politique de confidentialité + Consentement obligatoire</a:t>
            </a:r>
            <a:endParaRPr sz="74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4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18"/>
              <a:t>✅ Accès &amp; Portabilité</a:t>
            </a:r>
            <a:endParaRPr b="1" sz="90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18"/>
              <a:t>Export complet des données (JSON)</a:t>
            </a:r>
            <a:endParaRPr sz="74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4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18"/>
              <a:t>✅ Droit à l'Oubli</a:t>
            </a:r>
            <a:endParaRPr b="1" sz="901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418"/>
              <a:t>Suppression définitive du compte</a:t>
            </a:r>
            <a:endParaRPr sz="7418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3" name="Google Shape;193;p23" title="07_rgpd_mes_donne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3800" y="1440250"/>
            <a:ext cx="7030502" cy="173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TESTS AUTOMATISÉS</a:t>
            </a:r>
            <a:endParaRPr sz="3600"/>
          </a:p>
        </p:txBody>
      </p:sp>
      <p:sp>
        <p:nvSpPr>
          <p:cNvPr id="199" name="Google Shape;199;p2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503"/>
              <a:t>📊 15 Tests Implémentés</a:t>
            </a:r>
            <a:endParaRPr b="1" sz="1150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141"/>
              <a:t>🧪 Authentification (9 tests)</a:t>
            </a:r>
            <a:endParaRPr b="1" sz="914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I</a:t>
            </a:r>
            <a:r>
              <a:rPr lang="fr" sz="7300"/>
              <a:t>nscription (validation RGPD)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Connexion (succès/échec)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Déconnexion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063"/>
              <a:t>🧪 Menus CRUD (3 tests)</a:t>
            </a:r>
            <a:endParaRPr b="1" sz="9063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</a:t>
            </a:r>
            <a:r>
              <a:rPr lang="fr" sz="7300"/>
              <a:t>Liste publique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Création admin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Autorisations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38"/>
              <a:t>🧪 RGPD (6 tests)</a:t>
            </a:r>
            <a:endParaRPr b="1" sz="883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E</a:t>
            </a:r>
            <a:r>
              <a:rPr lang="fr" sz="7300"/>
              <a:t>xport données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Suppression compte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Consentement newsletter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792"/>
              <a:t>✅ Tous les tests passent</a:t>
            </a:r>
            <a:endParaRPr b="1" sz="9792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DÉPLOIEMENT EN PRODUCTION</a:t>
            </a:r>
            <a:endParaRPr sz="3600"/>
          </a:p>
        </p:txBody>
      </p:sp>
      <p:sp>
        <p:nvSpPr>
          <p:cNvPr id="205" name="Google Shape;205;p25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916"/>
              <a:t>🖥️ Infrastructure</a:t>
            </a:r>
            <a:endParaRPr b="1" sz="891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</a:t>
            </a:r>
            <a:r>
              <a:rPr lang="fr" sz="7276"/>
              <a:t> VPS OVH (Ubuntu 22.04)</a:t>
            </a:r>
            <a:endParaRPr sz="727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76"/>
              <a:t>- Domaine : vite-gourmand.fr</a:t>
            </a:r>
            <a:endParaRPr sz="727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276"/>
              <a:t>- IP : 37.59.124.193</a:t>
            </a:r>
            <a:endParaRPr sz="727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50"/>
              <a:t>🔐 SSL/HTTPS</a:t>
            </a:r>
            <a:endParaRPr b="1" sz="88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C</a:t>
            </a:r>
            <a:r>
              <a:rPr lang="fr" sz="7300"/>
              <a:t>ertificat Let's Encrypt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Renouvellement automatique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HTTPS obligatoire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887"/>
              <a:t>⚙️ Stack Serveur</a:t>
            </a:r>
            <a:endParaRPr b="1" sz="888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- N</a:t>
            </a:r>
            <a:r>
              <a:rPr lang="fr" sz="7300"/>
              <a:t>ginx (proxy inverse)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PHP-FPM 8.2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PostgreSQL 14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668"/>
              <a:t>🌐 https://vite-gourmand.fr</a:t>
            </a:r>
            <a:endParaRPr b="1" sz="9668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MÉTRIQUES DU PROJET</a:t>
            </a:r>
            <a:endParaRPr sz="3600"/>
          </a:p>
        </p:txBody>
      </p:sp>
      <p:sp>
        <p:nvSpPr>
          <p:cNvPr id="211" name="Google Shape;211;p26"/>
          <p:cNvSpPr txBox="1"/>
          <p:nvPr>
            <p:ph idx="1" type="body"/>
          </p:nvPr>
        </p:nvSpPr>
        <p:spPr>
          <a:xfrm>
            <a:off x="1303800" y="1990050"/>
            <a:ext cx="7030500" cy="315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305"/>
              <a:t>Quantitatif</a:t>
            </a:r>
            <a:endParaRPr b="1" sz="1130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⏱️ 12 jours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💻 ~8000 lignes de code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📊 13 tables de base de données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🛣️ 46 routes API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🧪 15 tests automatisés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544"/>
              <a:t>📄 15+ pages/composants React</a:t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544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1590"/>
              <a:t>Qualitatif</a:t>
            </a:r>
            <a:endParaRPr b="1" sz="1159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✅ Application fonctionnelle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✅ Code organisé et documenté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✅ Sécurité robuste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✅ Conforme RGPD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✅ Responsive design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DÉMONSTRATION EN DIRECT</a:t>
            </a:r>
            <a:endParaRPr sz="3600"/>
          </a:p>
        </p:txBody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1303800" y="1990050"/>
            <a:ext cx="7030500" cy="30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865"/>
              <a:t>Scénario</a:t>
            </a:r>
            <a:r>
              <a:rPr lang="fr" sz="7300"/>
              <a:t> :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1️⃣ Page d'accueil &amp; Navigation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2️⃣ Consultation des menus</a:t>
            </a:r>
            <a:endParaRPr sz="89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3️⃣ Connexion Client (commande)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4️⃣ Mes Commandes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5️⃣ Connexion Employé (gestion)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6️⃣ Connexion Admin (administration)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95"/>
              <a:t>7️⃣ Export données RGPD</a:t>
            </a:r>
            <a:endParaRPr sz="739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9700">
                <a:solidFill>
                  <a:srgbClr val="1155CC"/>
                </a:solidFill>
              </a:rPr>
              <a:t>🌐 https://vite-gourmand.fr</a:t>
            </a:r>
            <a:endParaRPr b="1" sz="9700">
              <a:solidFill>
                <a:srgbClr val="1155CC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5700"/>
              <a:t>Comptes Démo :</a:t>
            </a:r>
            <a:endParaRPr b="1" sz="5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700"/>
              <a:t>👤 client@demo.fr / Password123!</a:t>
            </a:r>
            <a:endParaRPr sz="5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700"/>
              <a:t>👨‍💼 employe@demo.fr / Password123!</a:t>
            </a:r>
            <a:endParaRPr sz="5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5700"/>
              <a:t>🔧 admin@demo.fr / Password123!</a:t>
            </a:r>
            <a:endParaRPr sz="57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DIFFICULTÉS RENCONTRÉES</a:t>
            </a:r>
            <a:endParaRPr sz="3600"/>
          </a:p>
        </p:txBody>
      </p:sp>
      <p:sp>
        <p:nvSpPr>
          <p:cNvPr id="223" name="Google Shape;223;p28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25"/>
              <a:t>⚠️ Accès SSH au VPS</a:t>
            </a:r>
            <a:endParaRPr b="1" sz="8025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729"/>
              <a:t>Problème : Mot de passe non accepté</a:t>
            </a:r>
            <a:endParaRPr sz="6729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729"/>
              <a:t>Solution : Mode rescue + création utilisateur</a:t>
            </a:r>
            <a:endParaRPr sz="6729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266"/>
              <a:t>⚠️ Configuration API Frontend</a:t>
            </a:r>
            <a:endParaRPr b="1" sz="82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81"/>
              <a:t>Problème : URL hardcodée (localhost)</a:t>
            </a:r>
            <a:endParaRPr sz="658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581"/>
              <a:t>Solution : Variables d'environnement (.env.production)</a:t>
            </a:r>
            <a:endParaRPr sz="658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032"/>
              <a:t>⚠️ Routing Nginx</a:t>
            </a:r>
            <a:endParaRPr b="1" sz="803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669"/>
              <a:t>Problème : Routes API 404</a:t>
            </a:r>
            <a:endParaRPr sz="6669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669"/>
              <a:t>Solution : Configuration location blocks adaptée</a:t>
            </a:r>
            <a:endParaRPr sz="6669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8900"/>
              <a:t>💡 Apprentissages</a:t>
            </a:r>
            <a:endParaRPr b="1" sz="8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Résolution de problèmes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Administration système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7300"/>
              <a:t>- Débrouillardise et persévérance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PERSPECTIVES D'ÉVOLUTION</a:t>
            </a:r>
            <a:endParaRPr sz="3600"/>
          </a:p>
        </p:txBody>
      </p:sp>
      <p:sp>
        <p:nvSpPr>
          <p:cNvPr id="229" name="Google Shape;229;p29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2407"/>
              <a:t>Fonctionnelles</a:t>
            </a:r>
            <a:endParaRPr b="1" sz="24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💳 Paiement en ligne (Stripe)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📧 Notifications email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📱 Application mobile (React Native)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📊 Dashboard statistiques avancé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b="1" lang="fr" sz="2407"/>
              <a:t>Techniques</a:t>
            </a:r>
            <a:endParaRPr b="1" sz="24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⚡ Cache Redis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📈 Monitoring (logs, métriques)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🔄 CI/CD automatisé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🌍 Internationalisation (i18n)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fr" sz="1807"/>
              <a:t>♿ Accessibilité (WCAG)</a:t>
            </a:r>
            <a:endParaRPr sz="18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t/>
            </a:r>
            <a:endParaRPr sz="1807"/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i="1" lang="fr" sz="2007"/>
              <a:t>L'architecture actuelle permet</a:t>
            </a:r>
            <a:endParaRPr i="1" sz="2007"/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i="1" lang="fr" sz="2007"/>
              <a:t>ces évolutions facilement</a:t>
            </a:r>
            <a:endParaRPr i="1" sz="2007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852"/>
              <a:buNone/>
            </a:pPr>
            <a:r>
              <a:t/>
            </a:r>
            <a:endParaRPr sz="1007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600"/>
              <a:t>CONCLUSION</a:t>
            </a:r>
            <a:endParaRPr sz="3600"/>
          </a:p>
        </p:txBody>
      </p:sp>
      <p:sp>
        <p:nvSpPr>
          <p:cNvPr id="235" name="Google Shape;235;p30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b="1" lang="fr" sz="2812"/>
              <a:t>Objectifs Atteints ✅</a:t>
            </a:r>
            <a:endParaRPr b="1" sz="28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✓ Application complète et fonctionnelle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✓ Stack technique moderne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✓ Sécurité &amp; RGPD respectés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✓ Déployée en production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✓ Testée et documentée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b="1" lang="fr" sz="2812"/>
              <a:t>Bilan Personnel</a:t>
            </a:r>
            <a:endParaRPr b="1" sz="28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💪 Compétences full-stack validées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📚 Apprentissages nombreux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🎯 Projet mené de A à Z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012"/>
              <a:t>🚀 Prêt pour le monde professionnel</a:t>
            </a:r>
            <a:endParaRPr sz="20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sz="2012"/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fr" sz="2812"/>
              <a:t>Merci pour votre attention ! 🙏</a:t>
            </a:r>
            <a:endParaRPr sz="28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t/>
            </a:r>
            <a:endParaRPr sz="2012"/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b="1" lang="fr" sz="3212"/>
              <a:t>Questions ?</a:t>
            </a:r>
            <a:endParaRPr b="1" sz="3212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688"/>
              <a:buNone/>
            </a:pPr>
            <a:r>
              <a:t/>
            </a:r>
            <a:endParaRPr sz="812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