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74" r:id="rId25"/>
    <p:sldId id="264" r:id="rId15"/>
    <p:sldId id="275" r:id="rId26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VITE &amp; GOURMAND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Application Web de Traiteur Événementiel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Présenté par : Jamesy MUKUNA MUKENKETAYI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Formation : Graduate Développeur Web Full Stack - STUDI Paris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Session : Juin-Juillet 2026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https://vite-gourmand.fr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5F2D"/>
                </a:solidFill>
              </a:defRPr>
            </a:pPr>
            <a:r>
              <a:t>SOMMAIRE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182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1. Contexte &amp; Objectifs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2. Analyse des Besoins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3. Modélisation des Données (MCD)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4. Architecture Technique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5. Choix Techniques Justifiés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6. Fonctionnalités Développées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7. Règles Métier &amp; Cycle de Commande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8. Statistiques NoSQL (MongoDB)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9. Sécurité &amp; RGPD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10. Tests Automatisés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11. Déploiement en Production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12. Métriques du Projet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13. Démonstration Live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14. Difficultés &amp; Solutions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15. Perspectives d'Évolution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16.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5F2D"/>
                </a:solidFill>
              </a:defRPr>
            </a:pPr>
            <a:r>
              <a:t>CONTEXTE DU PROJET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182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🎯 Problématique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Un traiteur événementiel souhaite digitaliser son activité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📋 Objectifs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Permettre aux clients de commander des menus en ligne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Faciliter la gestion des commandes pour l'équipe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Offrir une interface d'administration complète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Assurer la conformité RGPD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Déployer en production avec HTTPS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⏱️ Contraintes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Durée : 12 jours (6-18 février 2026)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Stack moderne : Laravel + React + PostgreSQL + MongoDB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5F2D"/>
                </a:solidFill>
              </a:defRPr>
            </a:pPr>
            <a:r>
              <a:t>ANALYSE DES BESOINS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182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👥 Visiteurs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Consultation des menus avec filtres (thème, régime)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Inscription avec consentement RGPD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👤 Clients (Utilisateurs connectés)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Passage de commandes en ligne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Suivi des commandes (8 statuts) + e-mails automatiques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Système d'avis après livraison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Export données RGPD / Droit à l'oubli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👨‍💼 Employés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Gestion des commandes (modification statuts)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Validation/rejet des avis clients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Création et modification de menus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🔧 Administrateurs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CRUD complet (Menus, Plats, Allergènes)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Gestion des utilisateurs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5F2D"/>
                </a:solidFill>
              </a:defRPr>
            </a:pPr>
            <a:r>
              <a:t>MODÈLE CONCEPTUEL DE DONNÉES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182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📦 13 Tables Principales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Users, Menus, Plats, Allergènes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Commandes, Avis, Contacts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Tables associatives (menu_plat, plat_allergene)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🔗 Relations Clés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Users (1) ──&lt; Commandes (N)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Users (1) ──&lt; Avis (N)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Commandes (1) ── Avis (0..1)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Menus (N) ──&lt; Plats (N) → menu_plat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Plats (N) ──&lt; Allergènes (N) → plat_allergene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✅ Normalisation 3NF respectée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Pas de redondance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Intégrité référentielle assurée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Index optimisés pour les requêtes fréquentes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5F2D"/>
                </a:solidFill>
              </a:defRPr>
            </a:pPr>
            <a:r>
              <a:t>ARCHITECTURE TECHNIQUE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182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🏗️ Architecture 3-Tiers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┌─────────────────┐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│   Frontend      │  React 19 (SPA)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│   React 19      │  Responsive Design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└────────┬────────┘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 xml:space="preserve">         │ API REST (HTTPS/JSON)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 xml:space="preserve">         ▼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┌─────────────────┐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│   Backend       │  Laravel 10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│   Laravel 10    │  API REST + Sanctum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└────────┬────────┘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 xml:space="preserve">         │ Eloquent ORM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 xml:space="preserve">         ▼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┌─────────────────┐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│  PostgreSQL 14  │  Base de données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└─────────────────┘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 b="1">
                <a:solidFill>
                  <a:srgbClr val="2C5F2D"/>
                </a:solidFill>
              </a:rPr>
              <a:t>+ MongoDB Atlas (NoSQL)</a:t>
            </a:r>
            <a:r>
              <a:rPr lang="fr-FR"/>
              <a:t xml:space="preserve"> — base secondaire pour les statistiques agrégées (commandes &amp; CA par menu)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5F2D"/>
                </a:solidFill>
              </a:defRPr>
            </a:pPr>
            <a:r>
              <a:rPr lang="fr-FR" sz="3600" b="1">
                <a:solidFill>
                  <a:srgbClr val="2C5F2D"/>
                </a:solidFill>
              </a:rPr>
              <a:t>JUSTIFICATION DES CHOIX TECHNIQUES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182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 b="1">
                <a:solidFill>
                  <a:srgbClr val="2C5F2D"/>
                </a:solidFill>
              </a:rPr>
              <a:t>🎨 React 19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>
                <a:solidFill>
                  <a:srgbClr val="2D3748"/>
                </a:solidFill>
              </a:rPr>
              <a:t>→ Composants réutilisables, Virtual DOM, écosystème riche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>
                <a:solidFill>
                  <a:srgbClr val="2D3748"/>
                </a:solidFill>
              </a:rPr>
              <a:t>→ SPA pour une expérience utilisateur fluide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 b="1">
                <a:solidFill>
                  <a:srgbClr val="2C5F2D"/>
                </a:solidFill>
              </a:rPr>
              <a:t>⚙️ Laravel 10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>
                <a:solidFill>
                  <a:srgbClr val="2D3748"/>
                </a:solidFill>
              </a:rPr>
              <a:t>→ API REST + Eloquent ORM, sécurité (Sanctum, CSRF)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 b="1">
                <a:solidFill>
                  <a:srgbClr val="2C5F2D"/>
                </a:solidFill>
              </a:rPr>
              <a:t>🗄️ PostgreSQL 14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>
                <a:solidFill>
                  <a:srgbClr val="2D3748"/>
                </a:solidFill>
              </a:rPr>
              <a:t>→ SGBD relationnel fiable, intégrité des données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 b="1">
                <a:solidFill>
                  <a:srgbClr val="2C5F2D"/>
                </a:solidFill>
              </a:rPr>
              <a:t>🍃 MongoDB (NoSQL)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>
                <a:solidFill>
                  <a:srgbClr val="2D3748"/>
                </a:solidFill>
              </a:rPr>
              <a:t>→ Base NoSQL obligatoire — stockage des statistiques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>
                <a:solidFill>
                  <a:srgbClr val="2D3748"/>
                </a:solidFill>
              </a:rPr>
              <a:t>→ Agrégations rapides : commandes &amp; CA par menu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5F2D"/>
                </a:solidFill>
              </a:defRPr>
            </a:pPr>
            <a:r>
              <a:t>FONCTIONNALITÉS CÔTÉ CLIENT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182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✅ Inscription / Connexion sécurisée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Validation stricte (email, mot de passe 10+ caractères)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Rate limiting (5 tentatives/minute)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✅ Consultation catalogue menus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Filtres par thème (bio, gastronomique, végétarien...)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Filtres par régime (normal, vegan, sans gluten...)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Affichage allergènes et note moyenne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✅ Passage de commandes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Sélection menu, date, quantité, adresse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Calcul prix en temps réel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✅ Suivi commandes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8 statuts, de « En attente » à « Terminée » (+ Annulée)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Possibilité d'annulation (si statut 'en attente')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✅ Système d'avis + Gestion RGPD complète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5F2D"/>
                </a:solidFill>
              </a:defRPr>
            </a:pPr>
            <a:r>
              <a:t>FONCTIONNALITÉS ADMINISTRATION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182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👨‍💼 Espace Employé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Gestion des commandes (modification des statuts)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Validation ou rejet des avis clients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Création et modification des menus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Dashboard stats : commandes &amp; CA par menu (MongoDB)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🔧 Espace Administrateur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CRUD complet Menus / Plats / Allergènes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Gestion des utilisateurs (activation/désactivation)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Suppression définitive des menus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Vue d'ensemble de toutes les données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🔐 Contrôle d'accès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Laravel Policies pour chaque action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Vérification des rôles à chaque requête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Middleware de sécurité personnalisé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5F2D"/>
                </a:solidFill>
              </a:defRPr>
            </a:pPr>
            <a:r>
              <a:t>MESURES DE SÉCURITÉ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182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🔒 Authentification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Tokens Laravel Sanctum (stateless)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Mots de passe hashés avec bcrypt (12 rounds)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Validation stricte : 10+ car., majuscules, chiffres, symboles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🔒 Protection des Données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HTTPS obligatoire (Let's Encrypt SSL)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Headers HTTP sécurisés (HSTS, X-Frame-Options, CSP)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CORS strict (vite-gourmand.fr uniquement)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🔒 Validation &amp; Contrôle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FormRequests Laravel côté serveur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Validation client ET serveur (double sécurité)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Rate limiting : 5 login/min, 60 API requests/min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🔒 Protection Attaques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SQL Injection : Eloquent ORM (requêtes préparées)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XSS : Échappement automatique React + Laravel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CSRF : Protection Laravel intégrée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5F2D"/>
                </a:solidFill>
              </a:defRPr>
            </a:pPr>
            <a:r>
              <a:t>CONFORMITÉ RGPD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182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📋 Conformité RGPD Complète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✅ Droit à l'Information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Politique de confidentialité accessible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Consentement obligatoire à l'inscription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Date de consentement enregistrée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✅ Droit d'Accès &amp; Portabilité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Export complet des données au format JSON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Données exportées : profil, commandes, avis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✅ Droit à l'Oubli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Suppression définitive du compte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Confirmation en 2 étapes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Suppression en cascade (commandes, avis)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✅ Gestion du Consentement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Newsletter : opt-in modifiable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Traçabilité des consentements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5F2D"/>
                </a:solidFill>
              </a:defRPr>
            </a:pPr>
            <a:r>
              <a:t>TESTS AUTOMATISÉS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182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📊 18 Tests Automatisés (PHPUnit)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🧪 Authentification (9 tests)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Inscription avec validation RGPD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Connexion (succès / échec)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Déconnexion et invalidation token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Validation mot de passe (complexité)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🧪 CRUD Menus (3 tests)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Liste publique des menus actifs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Création menu (admin uniquement)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Vérification des autorisations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🧪 Fonctionnalités RGPD (6 tests)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Export données JSON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Suppression compte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Consentement RGPD obligatoire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Accès pages légales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✅ Résultat : 18/18 tests passent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5F2D"/>
                </a:solidFill>
              </a:defRPr>
            </a:pPr>
            <a:r>
              <a:t>DÉPLOIEMENT EN PRODUCTION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182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🖥️ Infrastructure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VPS OVH (Ubuntu 22.04)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Domaine : vite-gourmand.fr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IP : 37.59.124.193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🔐 SSL/HTTPS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Certificat Let's Encrypt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Renouvellement automatique (certbot)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HTTPS obligatoire (redirection 301)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⚙️ Stack Serveur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Nginx 1.18.0 (proxy inverse)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PHP 8.2 + PHP-FPM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PostgreSQL 14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MongoDB Atlas (NoSQL, région UE)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Node.js v18 (build React)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📅 Mise en Production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Date : 18 février 2026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Temps de réponse API : &lt; 200ms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Disponibilité : 99.9%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5F2D"/>
                </a:solidFill>
              </a:defRPr>
            </a:pPr>
            <a:r>
              <a:t>MÉTRIQUES DU PROJET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182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📊 Métriques Quantitatives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⏱️ Durée : 12 jours (6-18 février 2026)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💻 ~8000 lignes de code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📊 13 tables PostgreSQL + 1 collection MongoDB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🛣️ 47 routes API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🧪 18 tests automatisés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📄 15+ pages/composants React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✅ Métriques Qualitatives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Application 100% fonctionnelle en production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Code organisé et maintenable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Documentation technique complète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Sécurité et RGPD respectés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🎯 Validation des 2 activités-types (CCP) du Titre DWWM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CCP1 : Front-end sécurisé (React)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CCP2 : Back-end sécurisé (Laravel, PostgreSQL, MongoDB)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Déploiement, sécurité &amp; RGPD : transversaux aux 2 CCP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5F2D"/>
                </a:solidFill>
              </a:defRPr>
            </a:pPr>
            <a:r>
              <a:t>DÉMONSTRATION EN DIRECT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182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🎬 Scénario de Démonstration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1️⃣ Page d'accueil &amp; Navigation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Catalogue des menus avec filtres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2️⃣ Parcours Client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Connexion : client@demo.fr / Password123!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Passage d'une commande (calcul livraison + remise auto)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3️⃣ Parcours Employé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Connexion : employe@demo.fr / Password123!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Changement de statut → e-mail automatique au client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Validation d'un avis client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4️⃣ Parcours Admin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Connexion : admin@demo.fr / Password123!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Création d'un nouveau menu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Graphique de statistiques (/admin/stats — données MongoDB)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5F2D"/>
                </a:solidFill>
              </a:defRPr>
            </a:pPr>
            <a:r>
              <a:t>DIFFICULTÉS RENCONTRÉES &amp; SOLUTIONS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182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⚠️ Accès SSH au VPS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Problème : Mot de passe non accepté après réinitialisation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Solution : Mode rescue + chroot + passwd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Apprentissage : Gestion serveur Linux en mode secours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⚠️ Configuration API Frontend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Problème : URL localhost hardcodée en production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Solution : Variables d'environnement (.env.production)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Apprentissage : Gestion des environnements React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⚠️ Routing Nginx pour l'API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Problème : Routes API retournaient 404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Solution : Configuration rewrite vers index.php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Apprentissage : Configuration Nginx + PHP-FPM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⚠️ Intégration de MongoDB (NoSQL)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Problème : extension PHP mongodb absente sur le VPS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Solution : installation de l'extension (pecl) + package mongodb/laravel-mongodb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Apprentissage : connecter une base NoSQL à Laravel (Atlas)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5F2D"/>
                </a:solidFill>
              </a:defRPr>
            </a:pPr>
            <a:r>
              <a:t>PERSPECTIVES D'ÉVOLUTION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182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🚀 Évolutions Fonctionnelles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💳 Paiement en ligne (Stripe API)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⏰ Application automatique de la pénalité matériel (tâche cron)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📱 Application mobile (React Native)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📊 Statistiques prédictives (prévision de la demande)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🌍 Multi-langue (i18n)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⚙️ Améliorations Techniques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⚡ Cache Redis (sessions, données fréquentes)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📈 Monitoring avancé (logs, métriques, alertes)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🔄 CI/CD automatisé (GitHub Actions)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🧪 Tests E2E (Cypress)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🔍 Elasticsearch (recherche avancée)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🎯 Scalabilité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Load balancing (plusieurs serveurs)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CDN pour les assets statiques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Optimisation base de données (partitioning)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5F2D"/>
                </a:solidFill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182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✅ Objectifs Atteints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Application complète et fonctionnelle en production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Stack moderne (Laravel 10 + React 19 + PostgreSQL + MongoDB)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Sécurité et RGPD respectés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Déployée avec HTTPS sur vite-gourmand.fr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Tests automatisés et documentation complète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💪 Compétences Acquises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Full-stack : Frontend (React) + Backend (Laravel)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DevOps : Déploiement VPS, Nginx, SSL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Sécurité : Authentification, validation, HTTPS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Conformité : RGPD (export, suppression)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Méthodologie : Git, tests, documentation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🎓 Validation des 2 CCP du Titre DWWM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• CCP1 Front-end ✅   CCP2 Back-end ✅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🙏 Merci de votre attention !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t>Questions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5943600"/>
            <a:ext cx="3200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D3748"/>
                </a:solidFill>
              </a:defRPr>
            </a:pPr>
            <a:r>
              <a:t>GitHub: github.com/yvesnet9/vite-gourmand</a:t>
            </a:r>
          </a:p>
          <a:p>
            <a:pPr>
              <a:defRPr sz="1100">
                <a:solidFill>
                  <a:srgbClr val="2D3748"/>
                </a:solidFill>
              </a:defRPr>
            </a:pPr>
            <a:r>
              <a:t>Email: yvesnet9@gmail.com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5F2D"/>
                </a:solidFill>
              </a:defRPr>
            </a:pPr>
            <a:r>
              <a:rPr lang="fr-FR" sz="3600" b="1">
                <a:solidFill>
                  <a:srgbClr val="2C5F2D"/>
                </a:solidFill>
              </a:rPr>
              <a:t>RÈGLES MÉTIER &amp; CYCLE DE COMMANDE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182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 b="1">
                <a:solidFill>
                  <a:srgbClr val="2C5F2D"/>
                </a:solidFill>
              </a:rPr>
              <a:t>💶 Calcul du prix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>
                <a:solidFill>
                  <a:srgbClr val="2D3748"/>
                </a:solidFill>
              </a:rPr>
              <a:t>• Livraison : 5 € à Bordeaux, sinon 5 € + 0,59 €/km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>
                <a:solidFill>
                  <a:srgbClr val="2D3748"/>
                </a:solidFill>
              </a:rPr>
              <a:t>• Remise de 10 % si convives ≥ minimum du menu + 5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>
                <a:solidFill>
                  <a:srgbClr val="2D3748"/>
                </a:solidFill>
              </a:rPr>
              <a:t>• Contrôle du minimum de convives et du stock disponible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 b="1">
                <a:solidFill>
                  <a:srgbClr val="2C5F2D"/>
                </a:solidFill>
              </a:rPr>
              <a:t>🔄 Cycle de commande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>
                <a:solidFill>
                  <a:srgbClr val="2D3748"/>
                </a:solidFill>
              </a:rPr>
              <a:t>• 8 statuts, de « En attente » à « Terminée »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>
                <a:solidFill>
                  <a:srgbClr val="2D3748"/>
                </a:solidFill>
              </a:rPr>
              <a:t>• E-mail automatique au client à chaque changement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 b="1">
                <a:solidFill>
                  <a:srgbClr val="2C5F2D"/>
                </a:solidFill>
              </a:rPr>
              <a:t>📦 Retour du matériel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>
                <a:solidFill>
                  <a:srgbClr val="2D3748"/>
                </a:solidFill>
              </a:rPr>
              <a:t>• Délai de 10 jours ouvrés après la prestation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>
                <a:solidFill>
                  <a:srgbClr val="2D3748"/>
                </a:solidFill>
              </a:rPr>
              <a:t>• E-mail de rappel + pénalité de 600 € si non rendu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5F2D"/>
                </a:solidFill>
              </a:defRPr>
            </a:pPr>
            <a:r>
              <a:rPr lang="fr-FR" sz="3600" b="1">
                <a:solidFill>
                  <a:srgbClr val="2C5F2D"/>
                </a:solidFill>
              </a:rPr>
              <a:t>STATISTIQUES NoSQL (MongoDB)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182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 b="1">
                <a:solidFill>
                  <a:srgbClr val="2C5F2D"/>
                </a:solidFill>
              </a:rPr>
              <a:t>🍃 Pourquoi MongoDB ?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>
                <a:solidFill>
                  <a:srgbClr val="2D3748"/>
                </a:solidFill>
              </a:rPr>
              <a:t>• Base NoSQL imposée par le cahier des charges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>
                <a:solidFill>
                  <a:srgbClr val="2D3748"/>
                </a:solidFill>
              </a:rPr>
              <a:t>• Idéale pour agréger des données de statistiques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 b="1">
                <a:solidFill>
                  <a:srgbClr val="2C5F2D"/>
                </a:solidFill>
              </a:rPr>
              <a:t>⚙️ Fonctionnement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>
                <a:solidFill>
                  <a:srgbClr val="2D3748"/>
                </a:solidFill>
              </a:rPr>
              <a:t>• Chaque commande est copiée dans MongoDB (Observer Laravel)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>
                <a:solidFill>
                  <a:srgbClr val="2D3748"/>
                </a:solidFill>
              </a:rPr>
              <a:t>• Agrégation : nb de commandes &amp; chiffre d'affaires par menu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>
                <a:solidFill>
                  <a:srgbClr val="2D3748"/>
                </a:solidFill>
              </a:rPr>
              <a:t>• Filtres par menu et par période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 b="1">
                <a:solidFill>
                  <a:srgbClr val="2C5F2D"/>
                </a:solidFill>
              </a:rPr>
              <a:t>📊 Visualisation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>
                <a:solidFill>
                  <a:srgbClr val="2D3748"/>
                </a:solidFill>
              </a:rPr>
              <a:t>• Graphique interactif (Chart.js) dans l'espace admin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D3748"/>
                </a:solidFill>
              </a:defRPr>
            </a:pPr>
            <a:r>
              <a:rPr lang="fr-FR">
                <a:solidFill>
                  <a:srgbClr val="2D3748"/>
                </a:solidFill>
              </a:rPr>
              <a:t>• Route sécurisée /api/admin/stats (réservée aux admins)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