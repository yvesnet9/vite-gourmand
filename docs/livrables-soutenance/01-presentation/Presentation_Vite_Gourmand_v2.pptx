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5" r:id="rId26"/>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1B13"/>
                </a:solidFill>
                <a:latin typeface="Cambria"/>
              </a:defRPr>
            </a:pPr>
            <a:r>
              <a:rPr sz="1400" b="0" i="0" u="none" strike="noStrike">
                <a:solidFill>
                  <a:srgbClr val="241B13"/>
                </a:solidFill>
                <a:latin typeface="Cambria"/>
              </a:rPr>
              <a:t>Chiffre d'affaires par menu (données de démonstration)</a:t>
            </a:r>
          </a:p>
        </c:rich>
      </c:tx>
      <c:layout/>
      <c:overlay val="0"/>
    </c:title>
    <c:autoTitleDeleted val="0"/>
    <c:plotArea>
      <c:layout/>
      <c:barChart>
        <c:barDir val="col"/>
        <c:grouping val="clustered"/>
        <c:varyColors val="0"/>
        <c:ser>
          <c:idx val="0"/>
          <c:order val="0"/>
          <c:tx>
            <c:strRef>
              <c:f>Sheet1!$B$1</c:f>
              <c:strCache>
                <c:ptCount val="1"/>
                <c:pt idx="0">
                  <c:v>CA (€)</c:v>
                </c:pt>
              </c:strCache>
            </c:strRef>
          </c:tx>
          <c:spPr>
            <a:solidFill>
              <a:srgbClr val="B1492A"/>
            </a:solidFill>
            <a:effectLst/>
          </c:spPr>
          <c:invertIfNegative val="0"/>
          <c:dLbls>
            <c:numFmt formatCode="#,##0" sourceLinked="0"/>
            <c:txPr>
              <a:bodyPr/>
              <a:lstStyle/>
              <a:p>
                <a:pPr>
                  <a:defRPr b="0" i="0" strike="noStrike" sz="1000" u="none">
                    <a:solidFill>
                      <a:srgbClr val="241B13"/>
                    </a:solidFill>
                    <a:latin typeface="Arial"/>
                  </a:defRPr>
                </a:pPr>
              </a:p>
            </c:txPr>
            <c:showLegendKey val="0"/>
            <c:showVal val="1"/>
            <c:showCatName val="0"/>
            <c:showSerName val="0"/>
            <c:showPercent val="0"/>
            <c:showBubbleSize val="0"/>
            <c:showLeaderLines val="0"/>
          </c:dLbls>
          <c:cat>
            <c:multiLvlStrRef>
              <c:f>Sheet1!$A$2:$A$4</c:f>
              <c:multiLvlStrCache>
                <c:ptCount val="3"/>
                <c:lvl>
                  <c:pt idx="0">
                    <c:v>Bio Printemps</c:v>
                  </c:pt>
                  <c:pt idx="1">
                    <c:v>Gastronomique</c:v>
                  </c:pt>
                  <c:pt idx="2">
                    <c:v>Végétarien</c:v>
                  </c:pt>
                </c:lvl>
              </c:multiLvlStrCache>
            </c:multiLvlStrRef>
          </c:cat>
          <c:val>
            <c:numRef>
              <c:f>Sheet1!$B$2:$B$4</c:f>
              <c:numCache>
                <c:formatCode>General</c:formatCode>
                <c:ptCount val="3"/>
                <c:pt idx="0">
                  <c:v>910</c:v>
                </c:pt>
                <c:pt idx="1">
                  <c:v>400</c:v>
                </c:pt>
                <c:pt idx="2">
                  <c:v>360</c:v>
                </c:pt>
              </c:numCache>
            </c:numRef>
          </c:val>
        </c:ser>
        <c:dLbls>
          <c:numFmt formatCode="#,##0" sourceLinked="0"/>
          <c:txPr>
            <a:bodyPr/>
            <a:lstStyle/>
            <a:p>
              <a:pPr>
                <a:defRPr b="0" i="0" strike="noStrike" sz="1000" u="none">
                  <a:solidFill>
                    <a:srgbClr val="241B1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5D4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D5B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5D4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m'appelle Jamesy MUKUNA. Je vous présente Vite &amp; Gourmand, une application web pour un traiteur événementiel, que j'ai développée et déployée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d'entrer dans les détails : voici mon application réellement en ligne, accessible à tous sur vite-gourmand.fr. J'y reviendrai pour une démonstration 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 contexte, acteurs, technique, conception, réalisation, démonstration, puis sécurité/tests, déploiement, bilan et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client gérait ses commandes manuellement et voulait digitaliser. Objectifs : commande en ligne, gestion, administration, RGPD, déploiement sécurisé.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acteurs avec permissions croissantes : visiteur, client, employé, administrateur.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en front, Laravel en API REST, PostgreSQL pour le relationnel, MongoDB pour les stats. Déployé sur VPS OVH avec Nginx et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3-tiers découplée : React communique avec Laravel via une API REST en JSON. Laravel gère PostgreSQL et MongoDB. Le découplage permet de faire évoluer chaque partie indépendamment.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Maquettes réalisées sous Figma avant de coder. Chaque carte de menu est un composant réutilisable, ce qui correspond en React à un composant affiché en boucle avec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Identité chaleureuse et artisanale : crème, terracotta, brun. Typographie Fraunces pour les titres, police système pour le corps.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prix se calcule en temps réel côté React, mais est recalculé côté Laravel pour la sécurité. Workflow à 8 statuts avec e-mail automatique via Resend.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pour le transactionnel, MongoDB pour les stats. Un Observer Laravel alimente MongoDB automatiquement à chaque commande. Le graphique montre le CA par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Sécurité à plusieurs niveaux : authentification, autorisations avec CheckRole, validation des données, transport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RGPD : consentement daté, export JSON (portabilité), rectification, droit à l'oubli avec suppression en cascade. Le mot de passe est exclu de l'export.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écrit 18 tests. L'un d'eux a révélé une faille de contrôle d'accès : un utilisateur simple pouvait créer un menu (201 au lieu de 403). Corrigée avec un middleware CheckRole. C'est du broken access control, la faille n°1 OWASP. Ça montre la valeur des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à la démonstration en direct. Je vais suivre un parcours du visiteur jusqu'à l'administrateur : consultation des menus avec filtres, commande avec calcul de prix, changement de statut côté employé, et statistiques côté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Plusieurs difficultés techniques résolues : SSH, URL localhost, routing Nginx, extension MongoDB. Et surtout la faille détectée par les tests. J'ajoute un incident réel : en septembre 2026, le cluster MongoDB Atlas a été mis en pause pour inactivité, ce qui provoquait une erreur 500 au changement de statut. Je l'ai diagnostiqué avec les logs Laravel et nslookup, puis j'ai rendu la synchronisation MongoDB non bloquante avec un try/catch.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Évolutions : paiement Stripe, app mobile, multi-langue côté fonctionnel ; CI/CD, Redis, tests E2E, 2FA côté technique. Je présente ça comme un périmètre maîtrisé.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 application complète en production, stack moderne, sécurité, RGPD, tests, documentation. Le projet valide les deux CCP du titre DWWM.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L'application est déployée sur un VPS OVH sous Ubuntu. Nginx sert le front React compilé et transmet les appels /api à Laravel via PHP-FPM. PostgreSQL tourne en local, MongoDB Atlas héberge les statistiques, et les secrets sont dans le fichier .env hors de Git. Pour déployer : je pousse sur GitHub, je fais git pull sur le serveur, puis migrate, config:cache et npm run build. Le HTTPS est assuré par Let's Encrypt avec renouvellement automatique.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B13"/>
        </a:solidFill>
      </p:bgPr>
    </p:bg>
    <p:spTree>
      <p:nvGrpSpPr>
        <p:cNvPr id="1" name=""/>
        <p:cNvGrpSpPr/>
        <p:nvPr/>
      </p:nvGrpSpPr>
      <p:grpSpPr>
        <a:xfrm>
          <a:off x="0" y="0"/>
          <a:ext cx="0" cy="0"/>
          <a:chOff x="0" y="0"/>
          <a:chExt cx="0" cy="0"/>
        </a:xfrm>
      </p:grpSpPr>
      <p:sp>
        <p:nvSpPr>
          <p:cNvPr id="2" name="Text 0"/>
          <p:cNvSpPr txBox="1"/>
          <p:nvPr/>
        </p:nvSpPr>
        <p:spPr>
          <a:xfrm>
            <a:off x="0" y="1463040"/>
            <a:ext cx="1216152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3" name="Text 1"/>
          <p:cNvSpPr txBox="1"/>
          <p:nvPr/>
        </p:nvSpPr>
        <p:spPr>
          <a:xfrm>
            <a:off x="457200" y="2286000"/>
            <a:ext cx="11247120" cy="1097280"/>
          </a:xfrm>
          <a:prstGeom prst="rect">
            <a:avLst/>
          </a:prstGeom>
          <a:noFill/>
          <a:ln/>
        </p:spPr>
        <p:txBody>
          <a:bodyPr wrap="square" rtlCol="0" anchor="ctr"/>
          <a:lstStyle/>
          <a:p>
            <a:pPr algn="ctr" indent="0" marL="0">
              <a:buNone/>
            </a:pPr>
            <a:r>
              <a:rPr lang="en-US" sz="5400" b="1" dirty="0">
                <a:solidFill>
                  <a:srgbClr val="F5ECDD"/>
                </a:solidFill>
                <a:latin typeface="Cambria" pitchFamily="34" charset="0"/>
                <a:ea typeface="Cambria" pitchFamily="34" charset="-122"/>
                <a:cs typeface="Cambria" pitchFamily="34" charset="-120"/>
              </a:rPr>
              <a:t>Vite &amp; Gourmand</a:t>
            </a:r>
            <a:endParaRPr lang="en-US" sz="5400" dirty="0"/>
          </a:p>
        </p:txBody>
      </p:sp>
      <p:sp>
        <p:nvSpPr>
          <p:cNvPr id="4" name="Text 2"/>
          <p:cNvSpPr txBox="1"/>
          <p:nvPr/>
        </p:nvSpPr>
        <p:spPr>
          <a:xfrm>
            <a:off x="457200" y="3383280"/>
            <a:ext cx="11247120" cy="548640"/>
          </a:xfrm>
          <a:prstGeom prst="rect">
            <a:avLst/>
          </a:prstGeom>
          <a:noFill/>
          <a:ln/>
        </p:spPr>
        <p:txBody>
          <a:bodyPr wrap="square" rtlCol="0" anchor="ctr"/>
          <a:lstStyle/>
          <a:p>
            <a:pPr algn="ctr" indent="0" marL="0">
              <a:buNone/>
            </a:pPr>
            <a:r>
              <a:rPr lang="en-US" sz="2000" i="1" dirty="0">
                <a:solidFill>
                  <a:srgbClr val="E3D5BF"/>
                </a:solidFill>
                <a:latin typeface="Calibri" pitchFamily="34" charset="0"/>
                <a:ea typeface="Calibri" pitchFamily="34" charset="-122"/>
                <a:cs typeface="Calibri" pitchFamily="34" charset="-120"/>
              </a:rPr>
              <a:t>Application web pour traiteur événementiel</a:t>
            </a:r>
            <a:endParaRPr lang="en-US" sz="2000" dirty="0"/>
          </a:p>
        </p:txBody>
      </p:sp>
      <p:sp>
        <p:nvSpPr>
          <p:cNvPr id="5" name="Shape 3"/>
          <p:cNvSpPr/>
          <p:nvPr/>
        </p:nvSpPr>
        <p:spPr>
          <a:xfrm>
            <a:off x="4709160" y="4114800"/>
            <a:ext cx="2743200" cy="0"/>
          </a:xfrm>
          <a:prstGeom prst="line">
            <a:avLst/>
          </a:prstGeom>
          <a:noFill/>
          <a:ln w="25400">
            <a:solidFill>
              <a:srgbClr val="B1492A"/>
            </a:solidFill>
            <a:prstDash val="solid"/>
          </a:ln>
        </p:spPr>
      </p:sp>
      <p:sp>
        <p:nvSpPr>
          <p:cNvPr id="6" name="Text 4"/>
          <p:cNvSpPr txBox="1"/>
          <p:nvPr/>
        </p:nvSpPr>
        <p:spPr>
          <a:xfrm>
            <a:off x="457200" y="4389120"/>
            <a:ext cx="1124712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Jamesy MUKUNA MUKENKETAYI</a:t>
            </a:r>
            <a:endParaRPr lang="en-US" sz="1800" dirty="0"/>
          </a:p>
        </p:txBody>
      </p:sp>
      <p:sp>
        <p:nvSpPr>
          <p:cNvPr id="7" name="Text 5"/>
          <p:cNvSpPr txBox="1"/>
          <p:nvPr/>
        </p:nvSpPr>
        <p:spPr>
          <a:xfrm>
            <a:off x="457200" y="4892040"/>
            <a:ext cx="11247120" cy="731520"/>
          </a:xfrm>
          <a:prstGeom prst="rect">
            <a:avLst/>
          </a:prstGeom>
          <a:noFill/>
          <a:ln/>
        </p:spPr>
        <p:txBody>
          <a:bodyPr wrap="square" rtlCol="0" anchor="ctr"/>
          <a:lstStyle/>
          <a:p>
            <a:pPr algn="ctr" indent="0" marL="0">
              <a:buNone/>
            </a:pPr>
            <a:r>
              <a:rPr lang="en-US" sz="1300" dirty="0">
                <a:solidFill>
                  <a:srgbClr val="E3D5BF"/>
                </a:solidFill>
                <a:latin typeface="Calibri" pitchFamily="34" charset="0"/>
                <a:ea typeface="Calibri" pitchFamily="34" charset="-122"/>
                <a:cs typeface="Calibri" pitchFamily="34" charset="-120"/>
              </a:rPr>
              <a:t>Titre Professionnel Développeur Web et Web Mobile (DWWM)</a:t>
            </a:r>
            <a:endParaRPr lang="en-US" sz="1300" dirty="0"/>
          </a:p>
          <a:p>
            <a:pPr algn="ctr" indent="0" marL="0">
              <a:buNone/>
            </a:pPr>
            <a:r>
              <a:rPr lang="en-US" sz="1300" dirty="0">
                <a:solidFill>
                  <a:srgbClr val="E3D5BF"/>
                </a:solidFill>
                <a:latin typeface="Calibri" pitchFamily="34" charset="0"/>
                <a:ea typeface="Calibri" pitchFamily="34" charset="-122"/>
                <a:cs typeface="Calibri" pitchFamily="34" charset="-120"/>
              </a:rPr>
              <a:t>Session Novembre – Décembre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CDD"/>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Une application en production</a:t>
            </a:r>
            <a:endParaRPr lang="en-US" sz="3200" dirty="0"/>
          </a:p>
        </p:txBody>
      </p:sp>
      <p:sp>
        <p:nvSpPr>
          <p:cNvPr id="3" name="Text 1"/>
          <p:cNvSpPr txBox="1"/>
          <p:nvPr/>
        </p:nvSpPr>
        <p:spPr>
          <a:xfrm>
            <a:off x="548640" y="1280160"/>
            <a:ext cx="10972800" cy="457200"/>
          </a:xfrm>
          <a:prstGeom prst="rect">
            <a:avLst/>
          </a:prstGeom>
          <a:noFill/>
          <a:ln/>
        </p:spPr>
        <p:txBody>
          <a:bodyPr wrap="square" rtlCol="0" anchor="ctr"/>
          <a:lstStyle/>
          <a:p>
            <a:pPr indent="0" marL="0">
              <a:buNone/>
            </a:pPr>
            <a:r>
              <a:rPr lang="en-US" sz="1800" b="1" dirty="0">
                <a:solidFill>
                  <a:srgbClr val="B1492A"/>
                </a:solidFill>
                <a:latin typeface="Calibri" pitchFamily="34" charset="0"/>
                <a:ea typeface="Calibri" pitchFamily="34" charset="-122"/>
                <a:cs typeface="Calibri" pitchFamily="34" charset="-120"/>
              </a:rPr>
              <a:t>vite-gourmand.fr</a:t>
            </a:r>
            <a:endParaRPr lang="en-US" sz="1800" dirty="0"/>
          </a:p>
        </p:txBody>
      </p:sp>
      <p:pic>
        <p:nvPicPr>
          <p:cNvPr id="4" name="Image 0" descr="Page d'accueil de vite-gourmand.fr en production">    </p:cNvPr>
          <p:cNvPicPr>
            <a:picLocks noChangeAspect="1"/>
          </p:cNvPicPr>
          <p:nvPr/>
        </p:nvPicPr>
        <p:blipFill>
          <a:blip r:embed="rId1"/>
          <a:srcRect l="0" r="0" t="-3976" b="-3976"/>
          <a:stretch/>
        </p:blipFill>
        <p:spPr>
          <a:xfrm>
            <a:off x="2286000" y="1920240"/>
            <a:ext cx="7589520" cy="4480560"/>
          </a:xfrm>
          <a:prstGeom prst="rect">
            <a:avLst/>
          </a:prstGeom>
        </p:spPr>
      </p:pic>
      <p:sp>
        <p:nvSpPr>
          <p:cNvPr id="5" name="Shape 2"/>
          <p:cNvSpPr/>
          <p:nvPr/>
        </p:nvSpPr>
        <p:spPr>
          <a:xfrm>
            <a:off x="2286000" y="1920240"/>
            <a:ext cx="7589520" cy="4480560"/>
          </a:xfrm>
          <a:prstGeom prst="roundRect">
            <a:avLst>
              <a:gd name="adj" fmla="val 1020"/>
            </a:avLst>
          </a:prstGeom>
          <a:ln w="12700">
            <a:solidFill>
              <a:srgbClr val="E3D5BF"/>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Déroulé de la présentation</a:t>
            </a:r>
            <a:endParaRPr lang="en-US" sz="3200" dirty="0"/>
          </a:p>
        </p:txBody>
      </p:sp>
      <p:sp>
        <p:nvSpPr>
          <p:cNvPr id="3" name="Shape 1"/>
          <p:cNvSpPr/>
          <p:nvPr/>
        </p:nvSpPr>
        <p:spPr>
          <a:xfrm>
            <a:off x="822960" y="1554480"/>
            <a:ext cx="548640" cy="548640"/>
          </a:xfrm>
          <a:prstGeom prst="ellipse">
            <a:avLst/>
          </a:prstGeom>
          <a:solidFill>
            <a:srgbClr val="B1492A"/>
          </a:solidFill>
          <a:ln/>
        </p:spPr>
      </p:sp>
      <p:sp>
        <p:nvSpPr>
          <p:cNvPr id="4" name="Text 2"/>
          <p:cNvSpPr txBox="1"/>
          <p:nvPr/>
        </p:nvSpPr>
        <p:spPr>
          <a:xfrm>
            <a:off x="82296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554480" y="155448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Contexte &amp; besoin</a:t>
            </a:r>
            <a:endParaRPr lang="en-US" sz="1600" dirty="0"/>
          </a:p>
        </p:txBody>
      </p:sp>
      <p:sp>
        <p:nvSpPr>
          <p:cNvPr id="6" name="Shape 4"/>
          <p:cNvSpPr/>
          <p:nvPr/>
        </p:nvSpPr>
        <p:spPr>
          <a:xfrm>
            <a:off x="822960" y="2514600"/>
            <a:ext cx="548640" cy="548640"/>
          </a:xfrm>
          <a:prstGeom prst="ellipse">
            <a:avLst/>
          </a:prstGeom>
          <a:solidFill>
            <a:srgbClr val="B1492A"/>
          </a:solidFill>
          <a:ln/>
        </p:spPr>
      </p:sp>
      <p:sp>
        <p:nvSpPr>
          <p:cNvPr id="7" name="Text 5"/>
          <p:cNvSpPr txBox="1"/>
          <p:nvPr/>
        </p:nvSpPr>
        <p:spPr>
          <a:xfrm>
            <a:off x="822960" y="2514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8" name="Text 6"/>
          <p:cNvSpPr txBox="1"/>
          <p:nvPr/>
        </p:nvSpPr>
        <p:spPr>
          <a:xfrm>
            <a:off x="1554480" y="251460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Acteurs &amp; fonctionnalités</a:t>
            </a:r>
            <a:endParaRPr lang="en-US" sz="1600" dirty="0"/>
          </a:p>
        </p:txBody>
      </p:sp>
      <p:sp>
        <p:nvSpPr>
          <p:cNvPr id="9" name="Shape 7"/>
          <p:cNvSpPr/>
          <p:nvPr/>
        </p:nvSpPr>
        <p:spPr>
          <a:xfrm>
            <a:off x="822960" y="3474720"/>
            <a:ext cx="548640" cy="548640"/>
          </a:xfrm>
          <a:prstGeom prst="ellipse">
            <a:avLst/>
          </a:prstGeom>
          <a:solidFill>
            <a:srgbClr val="B1492A"/>
          </a:solidFill>
          <a:ln/>
        </p:spPr>
      </p:sp>
      <p:sp>
        <p:nvSpPr>
          <p:cNvPr id="10" name="Text 8"/>
          <p:cNvSpPr txBox="1"/>
          <p:nvPr/>
        </p:nvSpPr>
        <p:spPr>
          <a:xfrm>
            <a:off x="822960" y="3474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1" name="Text 9"/>
          <p:cNvSpPr txBox="1"/>
          <p:nvPr/>
        </p:nvSpPr>
        <p:spPr>
          <a:xfrm>
            <a:off x="1554480" y="347472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Stack &amp; architecture</a:t>
            </a:r>
            <a:endParaRPr lang="en-US" sz="1600" dirty="0"/>
          </a:p>
        </p:txBody>
      </p:sp>
      <p:sp>
        <p:nvSpPr>
          <p:cNvPr id="12" name="Shape 10"/>
          <p:cNvSpPr/>
          <p:nvPr/>
        </p:nvSpPr>
        <p:spPr>
          <a:xfrm>
            <a:off x="822960" y="4434840"/>
            <a:ext cx="548640" cy="548640"/>
          </a:xfrm>
          <a:prstGeom prst="ellipse">
            <a:avLst/>
          </a:prstGeom>
          <a:solidFill>
            <a:srgbClr val="B1492A"/>
          </a:solidFill>
          <a:ln/>
        </p:spPr>
      </p:sp>
      <p:sp>
        <p:nvSpPr>
          <p:cNvPr id="13" name="Text 11"/>
          <p:cNvSpPr txBox="1"/>
          <p:nvPr/>
        </p:nvSpPr>
        <p:spPr>
          <a:xfrm>
            <a:off x="82296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4" name="Text 12"/>
          <p:cNvSpPr txBox="1"/>
          <p:nvPr/>
        </p:nvSpPr>
        <p:spPr>
          <a:xfrm>
            <a:off x="1554480" y="443484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Conception &amp; maquettes</a:t>
            </a:r>
            <a:endParaRPr lang="en-US" sz="1600" dirty="0"/>
          </a:p>
        </p:txBody>
      </p:sp>
      <p:sp>
        <p:nvSpPr>
          <p:cNvPr id="15" name="Shape 13"/>
          <p:cNvSpPr/>
          <p:nvPr/>
        </p:nvSpPr>
        <p:spPr>
          <a:xfrm>
            <a:off x="822960" y="5394960"/>
            <a:ext cx="548640" cy="548640"/>
          </a:xfrm>
          <a:prstGeom prst="ellipse">
            <a:avLst/>
          </a:prstGeom>
          <a:solidFill>
            <a:srgbClr val="B1492A"/>
          </a:solidFill>
          <a:ln/>
        </p:spPr>
      </p:sp>
      <p:sp>
        <p:nvSpPr>
          <p:cNvPr id="16" name="Text 14"/>
          <p:cNvSpPr txBox="1"/>
          <p:nvPr/>
        </p:nvSpPr>
        <p:spPr>
          <a:xfrm>
            <a:off x="822960" y="5394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7" name="Text 15"/>
          <p:cNvSpPr txBox="1"/>
          <p:nvPr/>
        </p:nvSpPr>
        <p:spPr>
          <a:xfrm>
            <a:off x="1554480" y="539496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Réalisation &amp; points forts</a:t>
            </a:r>
            <a:endParaRPr lang="en-US" sz="1600" dirty="0"/>
          </a:p>
        </p:txBody>
      </p:sp>
      <p:sp>
        <p:nvSpPr>
          <p:cNvPr id="18" name="Shape 16"/>
          <p:cNvSpPr/>
          <p:nvPr/>
        </p:nvSpPr>
        <p:spPr>
          <a:xfrm>
            <a:off x="6309360" y="1554480"/>
            <a:ext cx="548640" cy="548640"/>
          </a:xfrm>
          <a:prstGeom prst="ellipse">
            <a:avLst/>
          </a:prstGeom>
          <a:solidFill>
            <a:srgbClr val="241B13"/>
          </a:solidFill>
          <a:ln/>
        </p:spPr>
      </p:sp>
      <p:sp>
        <p:nvSpPr>
          <p:cNvPr id="19" name="Text 17"/>
          <p:cNvSpPr txBox="1"/>
          <p:nvPr/>
        </p:nvSpPr>
        <p:spPr>
          <a:xfrm>
            <a:off x="6309360" y="1554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0" name="Text 18"/>
          <p:cNvSpPr txBox="1"/>
          <p:nvPr/>
        </p:nvSpPr>
        <p:spPr>
          <a:xfrm>
            <a:off x="7040880" y="155448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Démonstration</a:t>
            </a:r>
            <a:endParaRPr lang="en-US" sz="1600" dirty="0"/>
          </a:p>
        </p:txBody>
      </p:sp>
      <p:sp>
        <p:nvSpPr>
          <p:cNvPr id="21" name="Shape 19"/>
          <p:cNvSpPr/>
          <p:nvPr/>
        </p:nvSpPr>
        <p:spPr>
          <a:xfrm>
            <a:off x="6309360" y="2514600"/>
            <a:ext cx="548640" cy="548640"/>
          </a:xfrm>
          <a:prstGeom prst="ellipse">
            <a:avLst/>
          </a:prstGeom>
          <a:solidFill>
            <a:srgbClr val="241B13"/>
          </a:solidFill>
          <a:ln/>
        </p:spPr>
      </p:sp>
      <p:sp>
        <p:nvSpPr>
          <p:cNvPr id="22" name="Text 20"/>
          <p:cNvSpPr txBox="1"/>
          <p:nvPr/>
        </p:nvSpPr>
        <p:spPr>
          <a:xfrm>
            <a:off x="6309360" y="25146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23" name="Text 21"/>
          <p:cNvSpPr txBox="1"/>
          <p:nvPr/>
        </p:nvSpPr>
        <p:spPr>
          <a:xfrm>
            <a:off x="7040880" y="251460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Sécurité, RGPD &amp; tests</a:t>
            </a:r>
            <a:endParaRPr lang="en-US" sz="1600" dirty="0"/>
          </a:p>
        </p:txBody>
      </p:sp>
      <p:sp>
        <p:nvSpPr>
          <p:cNvPr id="24" name="Shape 22"/>
          <p:cNvSpPr/>
          <p:nvPr/>
        </p:nvSpPr>
        <p:spPr>
          <a:xfrm>
            <a:off x="6309360" y="3474720"/>
            <a:ext cx="548640" cy="548640"/>
          </a:xfrm>
          <a:prstGeom prst="ellipse">
            <a:avLst/>
          </a:prstGeom>
          <a:solidFill>
            <a:srgbClr val="241B13"/>
          </a:solidFill>
          <a:ln/>
        </p:spPr>
      </p:sp>
      <p:sp>
        <p:nvSpPr>
          <p:cNvPr id="25" name="Text 23"/>
          <p:cNvSpPr txBox="1"/>
          <p:nvPr/>
        </p:nvSpPr>
        <p:spPr>
          <a:xfrm>
            <a:off x="6309360" y="3474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26" name="Text 24"/>
          <p:cNvSpPr txBox="1"/>
          <p:nvPr/>
        </p:nvSpPr>
        <p:spPr>
          <a:xfrm>
            <a:off x="7040880" y="347472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Déploiement</a:t>
            </a:r>
            <a:endParaRPr lang="en-US" sz="1600" dirty="0"/>
          </a:p>
        </p:txBody>
      </p:sp>
      <p:sp>
        <p:nvSpPr>
          <p:cNvPr id="27" name="Shape 25"/>
          <p:cNvSpPr/>
          <p:nvPr/>
        </p:nvSpPr>
        <p:spPr>
          <a:xfrm>
            <a:off x="6309360" y="4434840"/>
            <a:ext cx="548640" cy="548640"/>
          </a:xfrm>
          <a:prstGeom prst="ellipse">
            <a:avLst/>
          </a:prstGeom>
          <a:solidFill>
            <a:srgbClr val="241B13"/>
          </a:solidFill>
          <a:ln/>
        </p:spPr>
      </p:sp>
      <p:sp>
        <p:nvSpPr>
          <p:cNvPr id="28" name="Text 26"/>
          <p:cNvSpPr txBox="1"/>
          <p:nvPr/>
        </p:nvSpPr>
        <p:spPr>
          <a:xfrm>
            <a:off x="6309360" y="44348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9</a:t>
            </a:r>
            <a:endParaRPr lang="en-US" sz="1800" dirty="0"/>
          </a:p>
        </p:txBody>
      </p:sp>
      <p:sp>
        <p:nvSpPr>
          <p:cNvPr id="29" name="Text 27"/>
          <p:cNvSpPr txBox="1"/>
          <p:nvPr/>
        </p:nvSpPr>
        <p:spPr>
          <a:xfrm>
            <a:off x="7040880" y="443484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Bilan &amp; perspectives</a:t>
            </a:r>
            <a:endParaRPr lang="en-US" sz="1600" dirty="0"/>
          </a:p>
        </p:txBody>
      </p:sp>
      <p:sp>
        <p:nvSpPr>
          <p:cNvPr id="30" name="Shape 28"/>
          <p:cNvSpPr/>
          <p:nvPr/>
        </p:nvSpPr>
        <p:spPr>
          <a:xfrm>
            <a:off x="6309360" y="5394960"/>
            <a:ext cx="548640" cy="548640"/>
          </a:xfrm>
          <a:prstGeom prst="ellipse">
            <a:avLst/>
          </a:prstGeom>
          <a:solidFill>
            <a:srgbClr val="241B13"/>
          </a:solidFill>
          <a:ln/>
        </p:spPr>
      </p:sp>
      <p:sp>
        <p:nvSpPr>
          <p:cNvPr id="31" name="Text 29"/>
          <p:cNvSpPr txBox="1"/>
          <p:nvPr/>
        </p:nvSpPr>
        <p:spPr>
          <a:xfrm>
            <a:off x="6309360" y="5394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10</a:t>
            </a:r>
            <a:endParaRPr lang="en-US" sz="1800" dirty="0"/>
          </a:p>
        </p:txBody>
      </p:sp>
      <p:sp>
        <p:nvSpPr>
          <p:cNvPr id="32" name="Text 30"/>
          <p:cNvSpPr txBox="1"/>
          <p:nvPr/>
        </p:nvSpPr>
        <p:spPr>
          <a:xfrm>
            <a:off x="7040880" y="5394960"/>
            <a:ext cx="4206240" cy="548640"/>
          </a:xfrm>
          <a:prstGeom prst="rect">
            <a:avLst/>
          </a:prstGeom>
          <a:noFill/>
          <a:ln/>
        </p:spPr>
        <p:txBody>
          <a:bodyPr wrap="square" lIns="0" tIns="0" rIns="0" bIns="0" rtlCol="0" anchor="ctr"/>
          <a:lstStyle/>
          <a:p>
            <a:pPr indent="0" marL="0">
              <a:buNone/>
            </a:pPr>
            <a:r>
              <a:rPr lang="en-US" sz="1600" dirty="0">
                <a:solidFill>
                  <a:srgbClr val="241B13"/>
                </a:solidFill>
                <a:latin typeface="Calibri" pitchFamily="34" charset="0"/>
                <a:ea typeface="Calibri" pitchFamily="34" charset="-122"/>
                <a:cs typeface="Calibri" pitchFamily="34" charset="-120"/>
              </a:rPr>
              <a:t>Questions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Contexte &amp; besoin</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1</a:t>
            </a:r>
            <a:endParaRPr lang="en-US" sz="1200" dirty="0"/>
          </a:p>
        </p:txBody>
      </p:sp>
      <p:sp>
        <p:nvSpPr>
          <p:cNvPr id="4" name="Text 2"/>
          <p:cNvSpPr txBox="1"/>
          <p:nvPr/>
        </p:nvSpPr>
        <p:spPr>
          <a:xfrm>
            <a:off x="548640" y="1463040"/>
            <a:ext cx="5486400" cy="457200"/>
          </a:xfrm>
          <a:prstGeom prst="rect">
            <a:avLst/>
          </a:prstGeom>
          <a:noFill/>
          <a:ln/>
        </p:spPr>
        <p:txBody>
          <a:bodyPr wrap="square" rtlCol="0" anchor="ctr"/>
          <a:lstStyle/>
          <a:p>
            <a:pPr indent="0" marL="0">
              <a:buNone/>
            </a:pPr>
            <a:r>
              <a:rPr lang="en-US" sz="2000" b="1" dirty="0">
                <a:solidFill>
                  <a:srgbClr val="B1492A"/>
                </a:solidFill>
                <a:latin typeface="Calibri" pitchFamily="34" charset="0"/>
                <a:ea typeface="Calibri" pitchFamily="34" charset="-122"/>
                <a:cs typeface="Calibri" pitchFamily="34" charset="-120"/>
              </a:rPr>
              <a:t>Le point de départ</a:t>
            </a:r>
            <a:endParaRPr lang="en-US" sz="2000" dirty="0"/>
          </a:p>
        </p:txBody>
      </p:sp>
      <p:sp>
        <p:nvSpPr>
          <p:cNvPr id="5" name="Text 3"/>
          <p:cNvSpPr txBox="1"/>
          <p:nvPr/>
        </p:nvSpPr>
        <p:spPr>
          <a:xfrm>
            <a:off x="548640" y="1965960"/>
            <a:ext cx="5577840" cy="914400"/>
          </a:xfrm>
          <a:prstGeom prst="rect">
            <a:avLst/>
          </a:prstGeom>
          <a:noFill/>
          <a:ln/>
        </p:spPr>
        <p:txBody>
          <a:bodyPr wrap="square" rtlCol="0" anchor="ctr"/>
          <a:lstStyle/>
          <a:p>
            <a:pPr indent="0" marL="0">
              <a:lnSpc>
                <a:spcPct val="120000"/>
              </a:lnSpc>
              <a:buNone/>
            </a:pPr>
            <a:r>
              <a:rPr lang="en-US" sz="1600" dirty="0">
                <a:solidFill>
                  <a:srgbClr val="241B13"/>
                </a:solidFill>
                <a:latin typeface="Calibri" pitchFamily="34" charset="0"/>
                <a:ea typeface="Calibri" pitchFamily="34" charset="-122"/>
                <a:cs typeface="Calibri" pitchFamily="34" charset="-120"/>
              </a:rPr>
              <a:t>Un traiteur événementiel à Bordeaux gérait ses commandes de façon </a:t>
            </a:r>
            <a:pPr indent="0" marL="0">
              <a:lnSpc>
                <a:spcPct val="120000"/>
              </a:lnSpc>
              <a:buNone/>
            </a:pPr>
            <a:r>
              <a:rPr lang="en-US" sz="1600" b="1" dirty="0">
                <a:solidFill>
                  <a:srgbClr val="241B13"/>
                </a:solidFill>
                <a:latin typeface="Calibri" pitchFamily="34" charset="0"/>
                <a:ea typeface="Calibri" pitchFamily="34" charset="-122"/>
                <a:cs typeface="Calibri" pitchFamily="34" charset="-120"/>
              </a:rPr>
              <a:t>manuelle</a:t>
            </a:r>
            <a:pPr indent="0" marL="0">
              <a:lnSpc>
                <a:spcPct val="120000"/>
              </a:lnSpc>
              <a:buNone/>
            </a:pPr>
            <a:r>
              <a:rPr lang="en-US" sz="1600" dirty="0">
                <a:solidFill>
                  <a:srgbClr val="241B13"/>
                </a:solidFill>
                <a:latin typeface="Calibri" pitchFamily="34" charset="0"/>
                <a:ea typeface="Calibri" pitchFamily="34" charset="-122"/>
                <a:cs typeface="Calibri" pitchFamily="34" charset="-120"/>
              </a:rPr>
              <a:t> : téléphone, e-mails, papier.</a:t>
            </a:r>
            <a:endParaRPr lang="en-US" sz="1600" dirty="0"/>
          </a:p>
        </p:txBody>
      </p:sp>
      <p:sp>
        <p:nvSpPr>
          <p:cNvPr id="6" name="Text 4"/>
          <p:cNvSpPr txBox="1"/>
          <p:nvPr/>
        </p:nvSpPr>
        <p:spPr>
          <a:xfrm>
            <a:off x="548640" y="2926080"/>
            <a:ext cx="5577840" cy="457200"/>
          </a:xfrm>
          <a:prstGeom prst="rect">
            <a:avLst/>
          </a:prstGeom>
          <a:noFill/>
          <a:ln/>
        </p:spPr>
        <p:txBody>
          <a:bodyPr wrap="square" rtlCol="0" anchor="ctr"/>
          <a:lstStyle/>
          <a:p>
            <a:pPr indent="0" marL="0">
              <a:buNone/>
            </a:pPr>
            <a:r>
              <a:rPr lang="en-US" sz="1600" b="1" dirty="0">
                <a:solidFill>
                  <a:srgbClr val="241B13"/>
                </a:solidFill>
                <a:latin typeface="Calibri" pitchFamily="34" charset="0"/>
                <a:ea typeface="Calibri" pitchFamily="34" charset="-122"/>
                <a:cs typeface="Calibri" pitchFamily="34" charset="-120"/>
              </a:rPr>
              <a:t>Le besoin : digitaliser tout le processus</a:t>
            </a:r>
            <a:endParaRPr lang="en-US" sz="1600" dirty="0"/>
          </a:p>
        </p:txBody>
      </p:sp>
      <p:sp>
        <p:nvSpPr>
          <p:cNvPr id="7" name="Text 5"/>
          <p:cNvSpPr txBox="1"/>
          <p:nvPr/>
        </p:nvSpPr>
        <p:spPr>
          <a:xfrm>
            <a:off x="731520" y="3474720"/>
            <a:ext cx="5486400" cy="2377440"/>
          </a:xfrm>
          <a:prstGeom prst="rect">
            <a:avLst/>
          </a:prstGeom>
          <a:noFill/>
          <a:ln/>
        </p:spPr>
        <p:txBody>
          <a:bodyPr wrap="square" rtlCol="0" anchor="ctr"/>
          <a:lstStyle/>
          <a:p>
            <a:pPr marL="342900" indent="-342900">
              <a:spcAft>
                <a:spcPts val="600"/>
              </a:spcAft>
              <a:buSzPct val="100000"/>
              <a:buChar char="•"/>
            </a:pPr>
            <a:r>
              <a:rPr lang="en-US" sz="1500" dirty="0">
                <a:solidFill>
                  <a:srgbClr val="241B13"/>
                </a:solidFill>
                <a:latin typeface="Calibri" pitchFamily="34" charset="0"/>
                <a:ea typeface="Calibri" pitchFamily="34" charset="-122"/>
                <a:cs typeface="Calibri" pitchFamily="34" charset="-120"/>
              </a:rPr>
              <a:t>Commander en ligne 24h/24</a:t>
            </a:r>
            <a:endParaRPr lang="en-US" sz="1500" dirty="0"/>
          </a:p>
          <a:p>
            <a:pPr marL="342900" indent="-342900">
              <a:spcAft>
                <a:spcPts val="600"/>
              </a:spcAft>
              <a:buSzPct val="100000"/>
              <a:buChar char="•"/>
            </a:pPr>
            <a:r>
              <a:rPr lang="en-US" sz="1500" dirty="0">
                <a:solidFill>
                  <a:srgbClr val="241B13"/>
                </a:solidFill>
                <a:latin typeface="Calibri" pitchFamily="34" charset="0"/>
                <a:ea typeface="Calibri" pitchFamily="34" charset="-122"/>
                <a:cs typeface="Calibri" pitchFamily="34" charset="-120"/>
              </a:rPr>
              <a:t>Gérer les commandes et menus</a:t>
            </a:r>
            <a:endParaRPr lang="en-US" sz="1500" dirty="0"/>
          </a:p>
          <a:p>
            <a:pPr marL="342900" indent="-342900">
              <a:spcAft>
                <a:spcPts val="600"/>
              </a:spcAft>
              <a:buSzPct val="100000"/>
              <a:buChar char="•"/>
            </a:pPr>
            <a:r>
              <a:rPr lang="en-US" sz="1500" dirty="0">
                <a:solidFill>
                  <a:srgbClr val="241B13"/>
                </a:solidFill>
                <a:latin typeface="Calibri" pitchFamily="34" charset="0"/>
                <a:ea typeface="Calibri" pitchFamily="34" charset="-122"/>
                <a:cs typeface="Calibri" pitchFamily="34" charset="-120"/>
              </a:rPr>
              <a:t>Espace d'administration complet</a:t>
            </a:r>
            <a:endParaRPr lang="en-US" sz="1500" dirty="0"/>
          </a:p>
          <a:p>
            <a:pPr marL="342900" indent="-342900">
              <a:spcAft>
                <a:spcPts val="600"/>
              </a:spcAft>
              <a:buSzPct val="100000"/>
              <a:buChar char="•"/>
            </a:pPr>
            <a:r>
              <a:rPr lang="en-US" sz="1500" dirty="0">
                <a:solidFill>
                  <a:srgbClr val="241B13"/>
                </a:solidFill>
                <a:latin typeface="Calibri" pitchFamily="34" charset="0"/>
                <a:ea typeface="Calibri" pitchFamily="34" charset="-122"/>
                <a:cs typeface="Calibri" pitchFamily="34" charset="-120"/>
              </a:rPr>
              <a:t>Conformité RGPD</a:t>
            </a:r>
            <a:endParaRPr lang="en-US" sz="1500" dirty="0"/>
          </a:p>
          <a:p>
            <a:pPr marL="342900" indent="-342900">
              <a:spcAft>
                <a:spcPts val="600"/>
              </a:spcAft>
              <a:buSzPct val="100000"/>
              <a:buChar char="•"/>
            </a:pPr>
            <a:r>
              <a:rPr lang="en-US" sz="1500" dirty="0">
                <a:solidFill>
                  <a:srgbClr val="241B13"/>
                </a:solidFill>
                <a:latin typeface="Calibri" pitchFamily="34" charset="0"/>
                <a:ea typeface="Calibri" pitchFamily="34" charset="-122"/>
                <a:cs typeface="Calibri" pitchFamily="34" charset="-120"/>
              </a:rPr>
              <a:t>Déploiement en production sécurisé</a:t>
            </a:r>
            <a:endParaRPr lang="en-US" sz="1500" dirty="0"/>
          </a:p>
        </p:txBody>
      </p:sp>
      <p:sp>
        <p:nvSpPr>
          <p:cNvPr id="8" name="Shape 6"/>
          <p:cNvSpPr/>
          <p:nvPr/>
        </p:nvSpPr>
        <p:spPr>
          <a:xfrm>
            <a:off x="6766560" y="1554480"/>
            <a:ext cx="4754880" cy="4206240"/>
          </a:xfrm>
          <a:prstGeom prst="roundRect">
            <a:avLst>
              <a:gd name="adj" fmla="val 2174"/>
            </a:avLst>
          </a:prstGeom>
          <a:solidFill>
            <a:srgbClr val="F5ECDD"/>
          </a:solidFill>
          <a:ln/>
        </p:spPr>
      </p:sp>
      <p:sp>
        <p:nvSpPr>
          <p:cNvPr id="9" name="Text 7"/>
          <p:cNvSpPr txBox="1"/>
          <p:nvPr/>
        </p:nvSpPr>
        <p:spPr>
          <a:xfrm>
            <a:off x="6766560" y="1920240"/>
            <a:ext cx="4754880" cy="82296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10" name="Text 8"/>
          <p:cNvSpPr txBox="1"/>
          <p:nvPr/>
        </p:nvSpPr>
        <p:spPr>
          <a:xfrm>
            <a:off x="6766560" y="2834640"/>
            <a:ext cx="4754880" cy="548640"/>
          </a:xfrm>
          <a:prstGeom prst="rect">
            <a:avLst/>
          </a:prstGeom>
          <a:noFill/>
          <a:ln/>
        </p:spPr>
        <p:txBody>
          <a:bodyPr wrap="square" rtlCol="0" anchor="ctr"/>
          <a:lstStyle/>
          <a:p>
            <a:pPr algn="ctr" indent="0" marL="0">
              <a:buNone/>
            </a:pPr>
            <a:r>
              <a:rPr lang="en-US" sz="2400" b="1" dirty="0">
                <a:solidFill>
                  <a:srgbClr val="241B13"/>
                </a:solidFill>
                <a:latin typeface="Cambria" pitchFamily="34" charset="0"/>
                <a:ea typeface="Cambria" pitchFamily="34" charset="-122"/>
                <a:cs typeface="Cambria" pitchFamily="34" charset="-120"/>
              </a:rPr>
              <a:t>Vite &amp; Gourmand</a:t>
            </a:r>
            <a:endParaRPr lang="en-US" sz="2400" dirty="0"/>
          </a:p>
        </p:txBody>
      </p:sp>
      <p:sp>
        <p:nvSpPr>
          <p:cNvPr id="11" name="Text 9"/>
          <p:cNvSpPr txBox="1"/>
          <p:nvPr/>
        </p:nvSpPr>
        <p:spPr>
          <a:xfrm>
            <a:off x="6766560" y="3474720"/>
            <a:ext cx="4754880" cy="822960"/>
          </a:xfrm>
          <a:prstGeom prst="rect">
            <a:avLst/>
          </a:prstGeom>
          <a:noFill/>
          <a:ln/>
        </p:spPr>
        <p:txBody>
          <a:bodyPr wrap="square" rtlCol="0" anchor="ctr"/>
          <a:lstStyle/>
          <a:p>
            <a:pPr algn="ctr" indent="0" marL="0">
              <a:buNone/>
            </a:pPr>
            <a:r>
              <a:rPr lang="en-US" sz="1400" i="1" dirty="0">
                <a:solidFill>
                  <a:srgbClr val="6B5D4A"/>
                </a:solidFill>
                <a:latin typeface="Calibri" pitchFamily="34" charset="0"/>
                <a:ea typeface="Calibri" pitchFamily="34" charset="-122"/>
                <a:cs typeface="Calibri" pitchFamily="34" charset="-120"/>
              </a:rPr>
              <a:t>« Votre traiteur professionnel</a:t>
            </a:r>
            <a:endParaRPr lang="en-US" sz="1400" dirty="0"/>
          </a:p>
          <a:p>
            <a:pPr algn="ctr" indent="0" marL="0">
              <a:buNone/>
            </a:pPr>
            <a:r>
              <a:rPr lang="en-US" sz="1400" i="1" dirty="0">
                <a:solidFill>
                  <a:srgbClr val="6B5D4A"/>
                </a:solidFill>
                <a:latin typeface="Calibri" pitchFamily="34" charset="0"/>
                <a:ea typeface="Calibri" pitchFamily="34" charset="-122"/>
                <a:cs typeface="Calibri" pitchFamily="34" charset="-120"/>
              </a:rPr>
              <a:t>pour tous vos événements »</a:t>
            </a:r>
            <a:endParaRPr lang="en-US" sz="1400" dirty="0"/>
          </a:p>
        </p:txBody>
      </p:sp>
      <p:sp>
        <p:nvSpPr>
          <p:cNvPr id="12" name="Text 10"/>
          <p:cNvSpPr txBox="1"/>
          <p:nvPr/>
        </p:nvSpPr>
        <p:spPr>
          <a:xfrm>
            <a:off x="7040880" y="4572000"/>
            <a:ext cx="4206240" cy="914400"/>
          </a:xfrm>
          <a:prstGeom prst="rect">
            <a:avLst/>
          </a:prstGeom>
          <a:noFill/>
          <a:ln/>
        </p:spPr>
        <p:txBody>
          <a:bodyPr wrap="square" rtlCol="0" anchor="ctr"/>
          <a:lstStyle/>
          <a:p>
            <a:pPr algn="ctr" indent="0" marL="0">
              <a:buNone/>
            </a:pPr>
            <a:r>
              <a:rPr lang="en-US" sz="1300" dirty="0">
                <a:solidFill>
                  <a:srgbClr val="241B13"/>
                </a:solidFill>
                <a:latin typeface="Calibri" pitchFamily="34" charset="0"/>
                <a:ea typeface="Calibri" pitchFamily="34" charset="-122"/>
                <a:cs typeface="Calibri" pitchFamily="34" charset="-120"/>
              </a:rPr>
              <a:t>Contrainte : réalisé avec une stack moderne, projet de fin de formation.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Acteurs &amp; permissions</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2</a:t>
            </a:r>
            <a:endParaRPr lang="en-US" sz="1200" dirty="0"/>
          </a:p>
        </p:txBody>
      </p:sp>
      <p:sp>
        <p:nvSpPr>
          <p:cNvPr id="4" name="Shape 2"/>
          <p:cNvSpPr/>
          <p:nvPr/>
        </p:nvSpPr>
        <p:spPr>
          <a:xfrm>
            <a:off x="640080" y="1737360"/>
            <a:ext cx="2560320" cy="3840480"/>
          </a:xfrm>
          <a:prstGeom prst="roundRect">
            <a:avLst>
              <a:gd name="adj" fmla="val 3571"/>
            </a:avLst>
          </a:prstGeom>
          <a:solidFill>
            <a:srgbClr val="F5ECDD"/>
          </a:solidFill>
          <a:ln/>
        </p:spPr>
      </p:sp>
      <p:sp>
        <p:nvSpPr>
          <p:cNvPr id="5" name="Text 3"/>
          <p:cNvSpPr txBox="1"/>
          <p:nvPr/>
        </p:nvSpPr>
        <p:spPr>
          <a:xfrm>
            <a:off x="640080" y="2011680"/>
            <a:ext cx="2560320" cy="82296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6" name="Text 4"/>
          <p:cNvSpPr txBox="1"/>
          <p:nvPr/>
        </p:nvSpPr>
        <p:spPr>
          <a:xfrm>
            <a:off x="640080" y="2926080"/>
            <a:ext cx="2560320" cy="457200"/>
          </a:xfrm>
          <a:prstGeom prst="rect">
            <a:avLst/>
          </a:prstGeom>
          <a:noFill/>
          <a:ln/>
        </p:spPr>
        <p:txBody>
          <a:bodyPr wrap="square" rtlCol="0" anchor="ctr"/>
          <a:lstStyle/>
          <a:p>
            <a:pPr algn="ctr" indent="0" marL="0">
              <a:buNone/>
            </a:pPr>
            <a:r>
              <a:rPr lang="en-US" sz="1800" b="1" dirty="0">
                <a:solidFill>
                  <a:srgbClr val="B1492A"/>
                </a:solidFill>
                <a:latin typeface="Cambria" pitchFamily="34" charset="0"/>
                <a:ea typeface="Cambria" pitchFamily="34" charset="-122"/>
                <a:cs typeface="Cambria" pitchFamily="34" charset="-120"/>
              </a:rPr>
              <a:t>Visiteur</a:t>
            </a:r>
            <a:endParaRPr lang="en-US" sz="1800" dirty="0"/>
          </a:p>
        </p:txBody>
      </p:sp>
      <p:sp>
        <p:nvSpPr>
          <p:cNvPr id="7" name="Text 5"/>
          <p:cNvSpPr txBox="1"/>
          <p:nvPr/>
        </p:nvSpPr>
        <p:spPr>
          <a:xfrm>
            <a:off x="822960" y="3474720"/>
            <a:ext cx="2194560" cy="1828800"/>
          </a:xfrm>
          <a:prstGeom prst="rect">
            <a:avLst/>
          </a:prstGeom>
          <a:noFill/>
          <a:ln/>
        </p:spPr>
        <p:txBody>
          <a:bodyPr wrap="square" rtlCol="0" anchor="ctr"/>
          <a:lstStyle/>
          <a:p>
            <a:pPr algn="ctr" indent="0" marL="0">
              <a:buNone/>
            </a:pPr>
            <a:r>
              <a:rPr lang="en-US" sz="1300" dirty="0">
                <a:solidFill>
                  <a:srgbClr val="241B13"/>
                </a:solidFill>
                <a:latin typeface="Calibri" pitchFamily="34" charset="0"/>
                <a:ea typeface="Calibri" pitchFamily="34" charset="-122"/>
                <a:cs typeface="Calibri" pitchFamily="34" charset="-120"/>
              </a:rPr>
              <a:t>Consulte les menus, filtres, s'inscrit</a:t>
            </a:r>
            <a:endParaRPr lang="en-US" sz="1300" dirty="0"/>
          </a:p>
        </p:txBody>
      </p:sp>
      <p:sp>
        <p:nvSpPr>
          <p:cNvPr id="8" name="Shape 6"/>
          <p:cNvSpPr/>
          <p:nvPr/>
        </p:nvSpPr>
        <p:spPr>
          <a:xfrm>
            <a:off x="3429000" y="1737360"/>
            <a:ext cx="2560320" cy="3840480"/>
          </a:xfrm>
          <a:prstGeom prst="roundRect">
            <a:avLst>
              <a:gd name="adj" fmla="val 3571"/>
            </a:avLst>
          </a:prstGeom>
          <a:solidFill>
            <a:srgbClr val="E3D5BF"/>
          </a:solidFill>
          <a:ln/>
        </p:spPr>
      </p:sp>
      <p:sp>
        <p:nvSpPr>
          <p:cNvPr id="9" name="Text 7"/>
          <p:cNvSpPr txBox="1"/>
          <p:nvPr/>
        </p:nvSpPr>
        <p:spPr>
          <a:xfrm>
            <a:off x="3429000" y="2011680"/>
            <a:ext cx="2560320" cy="82296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0" name="Text 8"/>
          <p:cNvSpPr txBox="1"/>
          <p:nvPr/>
        </p:nvSpPr>
        <p:spPr>
          <a:xfrm>
            <a:off x="3429000" y="2926080"/>
            <a:ext cx="2560320" cy="457200"/>
          </a:xfrm>
          <a:prstGeom prst="rect">
            <a:avLst/>
          </a:prstGeom>
          <a:noFill/>
          <a:ln/>
        </p:spPr>
        <p:txBody>
          <a:bodyPr wrap="square" rtlCol="0" anchor="ctr"/>
          <a:lstStyle/>
          <a:p>
            <a:pPr algn="ctr" indent="0" marL="0">
              <a:buNone/>
            </a:pPr>
            <a:r>
              <a:rPr lang="en-US" sz="1800" b="1" dirty="0">
                <a:solidFill>
                  <a:srgbClr val="B1492A"/>
                </a:solidFill>
                <a:latin typeface="Cambria" pitchFamily="34" charset="0"/>
                <a:ea typeface="Cambria" pitchFamily="34" charset="-122"/>
                <a:cs typeface="Cambria" pitchFamily="34" charset="-120"/>
              </a:rPr>
              <a:t>Client</a:t>
            </a:r>
            <a:endParaRPr lang="en-US" sz="1800" dirty="0"/>
          </a:p>
        </p:txBody>
      </p:sp>
      <p:sp>
        <p:nvSpPr>
          <p:cNvPr id="11" name="Text 9"/>
          <p:cNvSpPr txBox="1"/>
          <p:nvPr/>
        </p:nvSpPr>
        <p:spPr>
          <a:xfrm>
            <a:off x="3611880" y="3474720"/>
            <a:ext cx="2194560" cy="1828800"/>
          </a:xfrm>
          <a:prstGeom prst="rect">
            <a:avLst/>
          </a:prstGeom>
          <a:noFill/>
          <a:ln/>
        </p:spPr>
        <p:txBody>
          <a:bodyPr wrap="square" rtlCol="0" anchor="ctr"/>
          <a:lstStyle/>
          <a:p>
            <a:pPr algn="ctr" indent="0" marL="0">
              <a:buNone/>
            </a:pPr>
            <a:r>
              <a:rPr lang="en-US" sz="1300" dirty="0">
                <a:solidFill>
                  <a:srgbClr val="241B13"/>
                </a:solidFill>
                <a:latin typeface="Calibri" pitchFamily="34" charset="0"/>
                <a:ea typeface="Calibri" pitchFamily="34" charset="-122"/>
                <a:cs typeface="Calibri" pitchFamily="34" charset="-120"/>
              </a:rPr>
              <a:t>Commande, suit ses commandes, avis, RGPD</a:t>
            </a:r>
            <a:endParaRPr lang="en-US" sz="1300" dirty="0"/>
          </a:p>
        </p:txBody>
      </p:sp>
      <p:sp>
        <p:nvSpPr>
          <p:cNvPr id="12" name="Shape 10"/>
          <p:cNvSpPr/>
          <p:nvPr/>
        </p:nvSpPr>
        <p:spPr>
          <a:xfrm>
            <a:off x="6217920" y="1737360"/>
            <a:ext cx="2560320" cy="3840480"/>
          </a:xfrm>
          <a:prstGeom prst="roundRect">
            <a:avLst>
              <a:gd name="adj" fmla="val 3571"/>
            </a:avLst>
          </a:prstGeom>
          <a:solidFill>
            <a:srgbClr val="F5ECDD"/>
          </a:solidFill>
          <a:ln/>
        </p:spPr>
      </p:sp>
      <p:sp>
        <p:nvSpPr>
          <p:cNvPr id="13" name="Text 11"/>
          <p:cNvSpPr txBox="1"/>
          <p:nvPr/>
        </p:nvSpPr>
        <p:spPr>
          <a:xfrm>
            <a:off x="6217920" y="2011680"/>
            <a:ext cx="2560320" cy="82296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4" name="Text 12"/>
          <p:cNvSpPr txBox="1"/>
          <p:nvPr/>
        </p:nvSpPr>
        <p:spPr>
          <a:xfrm>
            <a:off x="6217920" y="2926080"/>
            <a:ext cx="2560320" cy="457200"/>
          </a:xfrm>
          <a:prstGeom prst="rect">
            <a:avLst/>
          </a:prstGeom>
          <a:noFill/>
          <a:ln/>
        </p:spPr>
        <p:txBody>
          <a:bodyPr wrap="square" rtlCol="0" anchor="ctr"/>
          <a:lstStyle/>
          <a:p>
            <a:pPr algn="ctr" indent="0" marL="0">
              <a:buNone/>
            </a:pPr>
            <a:r>
              <a:rPr lang="en-US" sz="1800" b="1" dirty="0">
                <a:solidFill>
                  <a:srgbClr val="B1492A"/>
                </a:solidFill>
                <a:latin typeface="Cambria" pitchFamily="34" charset="0"/>
                <a:ea typeface="Cambria" pitchFamily="34" charset="-122"/>
                <a:cs typeface="Cambria" pitchFamily="34" charset="-120"/>
              </a:rPr>
              <a:t>Employé</a:t>
            </a:r>
            <a:endParaRPr lang="en-US" sz="1800" dirty="0"/>
          </a:p>
        </p:txBody>
      </p:sp>
      <p:sp>
        <p:nvSpPr>
          <p:cNvPr id="15" name="Text 13"/>
          <p:cNvSpPr txBox="1"/>
          <p:nvPr/>
        </p:nvSpPr>
        <p:spPr>
          <a:xfrm>
            <a:off x="6400800" y="3474720"/>
            <a:ext cx="2194560" cy="1828800"/>
          </a:xfrm>
          <a:prstGeom prst="rect">
            <a:avLst/>
          </a:prstGeom>
          <a:noFill/>
          <a:ln/>
        </p:spPr>
        <p:txBody>
          <a:bodyPr wrap="square" rtlCol="0" anchor="ctr"/>
          <a:lstStyle/>
          <a:p>
            <a:pPr algn="ctr" indent="0" marL="0">
              <a:buNone/>
            </a:pPr>
            <a:r>
              <a:rPr lang="en-US" sz="1300" dirty="0">
                <a:solidFill>
                  <a:srgbClr val="241B13"/>
                </a:solidFill>
                <a:latin typeface="Calibri" pitchFamily="34" charset="0"/>
                <a:ea typeface="Calibri" pitchFamily="34" charset="-122"/>
                <a:cs typeface="Calibri" pitchFamily="34" charset="-120"/>
              </a:rPr>
              <a:t>Gère les commandes, statuts, modère les avis</a:t>
            </a:r>
            <a:endParaRPr lang="en-US" sz="1300" dirty="0"/>
          </a:p>
        </p:txBody>
      </p:sp>
      <p:sp>
        <p:nvSpPr>
          <p:cNvPr id="16" name="Shape 14"/>
          <p:cNvSpPr/>
          <p:nvPr/>
        </p:nvSpPr>
        <p:spPr>
          <a:xfrm>
            <a:off x="9006840" y="1737360"/>
            <a:ext cx="2560320" cy="3840480"/>
          </a:xfrm>
          <a:prstGeom prst="roundRect">
            <a:avLst>
              <a:gd name="adj" fmla="val 3571"/>
            </a:avLst>
          </a:prstGeom>
          <a:solidFill>
            <a:srgbClr val="E3D5BF"/>
          </a:solidFill>
          <a:ln/>
        </p:spPr>
      </p:sp>
      <p:sp>
        <p:nvSpPr>
          <p:cNvPr id="17" name="Text 15"/>
          <p:cNvSpPr txBox="1"/>
          <p:nvPr/>
        </p:nvSpPr>
        <p:spPr>
          <a:xfrm>
            <a:off x="9006840" y="2011680"/>
            <a:ext cx="2560320" cy="82296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8" name="Text 16"/>
          <p:cNvSpPr txBox="1"/>
          <p:nvPr/>
        </p:nvSpPr>
        <p:spPr>
          <a:xfrm>
            <a:off x="9006840" y="2926080"/>
            <a:ext cx="2560320" cy="457200"/>
          </a:xfrm>
          <a:prstGeom prst="rect">
            <a:avLst/>
          </a:prstGeom>
          <a:noFill/>
          <a:ln/>
        </p:spPr>
        <p:txBody>
          <a:bodyPr wrap="square" rtlCol="0" anchor="ctr"/>
          <a:lstStyle/>
          <a:p>
            <a:pPr algn="ctr" indent="0" marL="0">
              <a:buNone/>
            </a:pPr>
            <a:r>
              <a:rPr lang="en-US" sz="1800" b="1" dirty="0">
                <a:solidFill>
                  <a:srgbClr val="B1492A"/>
                </a:solidFill>
                <a:latin typeface="Cambria" pitchFamily="34" charset="0"/>
                <a:ea typeface="Cambria" pitchFamily="34" charset="-122"/>
                <a:cs typeface="Cambria" pitchFamily="34" charset="-120"/>
              </a:rPr>
              <a:t>Administrateur</a:t>
            </a:r>
            <a:endParaRPr lang="en-US" sz="1800" dirty="0"/>
          </a:p>
        </p:txBody>
      </p:sp>
      <p:sp>
        <p:nvSpPr>
          <p:cNvPr id="19" name="Text 17"/>
          <p:cNvSpPr txBox="1"/>
          <p:nvPr/>
        </p:nvSpPr>
        <p:spPr>
          <a:xfrm>
            <a:off x="9189720" y="3474720"/>
            <a:ext cx="2194560" cy="1828800"/>
          </a:xfrm>
          <a:prstGeom prst="rect">
            <a:avLst/>
          </a:prstGeom>
          <a:noFill/>
          <a:ln/>
        </p:spPr>
        <p:txBody>
          <a:bodyPr wrap="square" rtlCol="0" anchor="ctr"/>
          <a:lstStyle/>
          <a:p>
            <a:pPr algn="ctr" indent="0" marL="0">
              <a:buNone/>
            </a:pPr>
            <a:r>
              <a:rPr lang="en-US" sz="1300" dirty="0">
                <a:solidFill>
                  <a:srgbClr val="241B13"/>
                </a:solidFill>
                <a:latin typeface="Calibri" pitchFamily="34" charset="0"/>
                <a:ea typeface="Calibri" pitchFamily="34" charset="-122"/>
                <a:cs typeface="Calibri" pitchFamily="34" charset="-120"/>
              </a:rPr>
              <a:t>Gère menus, plats, allergènes et statistiques</a:t>
            </a:r>
            <a:endParaRPr lang="en-US" sz="1300" dirty="0"/>
          </a:p>
        </p:txBody>
      </p:sp>
      <p:sp>
        <p:nvSpPr>
          <p:cNvPr id="20" name="Text 18"/>
          <p:cNvSpPr txBox="1"/>
          <p:nvPr/>
        </p:nvSpPr>
        <p:spPr>
          <a:xfrm>
            <a:off x="640080" y="5852160"/>
            <a:ext cx="10881360" cy="457200"/>
          </a:xfrm>
          <a:prstGeom prst="rect">
            <a:avLst/>
          </a:prstGeom>
          <a:noFill/>
          <a:ln/>
        </p:spPr>
        <p:txBody>
          <a:bodyPr wrap="square" rtlCol="0" anchor="ctr"/>
          <a:lstStyle/>
          <a:p>
            <a:pPr algn="ctr" indent="0" marL="0">
              <a:buNone/>
            </a:pPr>
            <a:r>
              <a:rPr lang="en-US" sz="1400" i="1" dirty="0">
                <a:solidFill>
                  <a:srgbClr val="6B5D4A"/>
                </a:solidFill>
                <a:latin typeface="Calibri" pitchFamily="34" charset="0"/>
                <a:ea typeface="Calibri" pitchFamily="34" charset="-122"/>
                <a:cs typeface="Calibri" pitchFamily="34" charset="-120"/>
              </a:rPr>
              <a:t>Permissions croissantes : chaque rôle hérite des droits du précédent + les siens.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Stack technique</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3</a:t>
            </a:r>
            <a:endParaRPr lang="en-US" sz="1200" dirty="0"/>
          </a:p>
        </p:txBody>
      </p:sp>
      <p:sp>
        <p:nvSpPr>
          <p:cNvPr id="4" name="Shape 2"/>
          <p:cNvSpPr/>
          <p:nvPr/>
        </p:nvSpPr>
        <p:spPr>
          <a:xfrm>
            <a:off x="640080" y="1645920"/>
            <a:ext cx="5303520" cy="1828800"/>
          </a:xfrm>
          <a:prstGeom prst="roundRect">
            <a:avLst>
              <a:gd name="adj" fmla="val 4000"/>
            </a:avLst>
          </a:prstGeom>
          <a:solidFill>
            <a:srgbClr val="F5ECDD"/>
          </a:solidFill>
          <a:ln/>
        </p:spPr>
      </p:sp>
      <p:sp>
        <p:nvSpPr>
          <p:cNvPr id="5" name="Text 3"/>
          <p:cNvSpPr txBox="1"/>
          <p:nvPr/>
        </p:nvSpPr>
        <p:spPr>
          <a:xfrm>
            <a:off x="914400" y="1874520"/>
            <a:ext cx="4572000" cy="365760"/>
          </a:xfrm>
          <a:prstGeom prst="rect">
            <a:avLst/>
          </a:prstGeom>
          <a:noFill/>
          <a:ln/>
        </p:spPr>
        <p:txBody>
          <a:bodyPr wrap="square" lIns="0" tIns="0" rIns="0" bIns="0" rtlCol="0" anchor="ctr"/>
          <a:lstStyle/>
          <a:p>
            <a:pPr indent="0" marL="0">
              <a:buNone/>
            </a:pPr>
            <a:r>
              <a:rPr lang="en-US" sz="1200" b="1" spc="200" kern="0" dirty="0">
                <a:solidFill>
                  <a:srgbClr val="B1492A"/>
                </a:solidFill>
                <a:latin typeface="Calibri" pitchFamily="34" charset="0"/>
                <a:ea typeface="Calibri" pitchFamily="34" charset="-122"/>
                <a:cs typeface="Calibri" pitchFamily="34" charset="-120"/>
              </a:rPr>
              <a:t>FRONT-END</a:t>
            </a:r>
            <a:endParaRPr lang="en-US" sz="1200" dirty="0"/>
          </a:p>
        </p:txBody>
      </p:sp>
      <p:sp>
        <p:nvSpPr>
          <p:cNvPr id="6" name="Text 4"/>
          <p:cNvSpPr txBox="1"/>
          <p:nvPr/>
        </p:nvSpPr>
        <p:spPr>
          <a:xfrm>
            <a:off x="914400" y="2240280"/>
            <a:ext cx="4754880" cy="548640"/>
          </a:xfrm>
          <a:prstGeom prst="rect">
            <a:avLst/>
          </a:prstGeom>
          <a:noFill/>
          <a:ln/>
        </p:spPr>
        <p:txBody>
          <a:bodyPr wrap="square" lIns="0" tIns="0" rIns="0" bIns="0" rtlCol="0" anchor="ctr"/>
          <a:lstStyle/>
          <a:p>
            <a:pPr indent="0" marL="0">
              <a:buNone/>
            </a:pPr>
            <a:r>
              <a:rPr lang="en-US" sz="2400" b="1" dirty="0">
                <a:solidFill>
                  <a:srgbClr val="241B13"/>
                </a:solidFill>
                <a:latin typeface="Cambria" pitchFamily="34" charset="0"/>
                <a:ea typeface="Cambria" pitchFamily="34" charset="-122"/>
                <a:cs typeface="Cambria" pitchFamily="34" charset="-120"/>
              </a:rPr>
              <a:t>React 19</a:t>
            </a:r>
            <a:endParaRPr lang="en-US" sz="2400" dirty="0"/>
          </a:p>
        </p:txBody>
      </p:sp>
      <p:sp>
        <p:nvSpPr>
          <p:cNvPr id="7" name="Text 5"/>
          <p:cNvSpPr txBox="1"/>
          <p:nvPr/>
        </p:nvSpPr>
        <p:spPr>
          <a:xfrm>
            <a:off x="914400" y="2834640"/>
            <a:ext cx="4754880" cy="45720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Interface, composants réutilisables</a:t>
            </a:r>
            <a:endParaRPr lang="en-US" sz="1300" dirty="0"/>
          </a:p>
        </p:txBody>
      </p:sp>
      <p:sp>
        <p:nvSpPr>
          <p:cNvPr id="8" name="Shape 6"/>
          <p:cNvSpPr/>
          <p:nvPr/>
        </p:nvSpPr>
        <p:spPr>
          <a:xfrm>
            <a:off x="6217920" y="1645920"/>
            <a:ext cx="5303520" cy="1828800"/>
          </a:xfrm>
          <a:prstGeom prst="roundRect">
            <a:avLst>
              <a:gd name="adj" fmla="val 4000"/>
            </a:avLst>
          </a:prstGeom>
          <a:solidFill>
            <a:srgbClr val="F5ECDD"/>
          </a:solidFill>
          <a:ln/>
        </p:spPr>
      </p:sp>
      <p:sp>
        <p:nvSpPr>
          <p:cNvPr id="9" name="Text 7"/>
          <p:cNvSpPr txBox="1"/>
          <p:nvPr/>
        </p:nvSpPr>
        <p:spPr>
          <a:xfrm>
            <a:off x="6492240" y="1874520"/>
            <a:ext cx="4572000" cy="365760"/>
          </a:xfrm>
          <a:prstGeom prst="rect">
            <a:avLst/>
          </a:prstGeom>
          <a:noFill/>
          <a:ln/>
        </p:spPr>
        <p:txBody>
          <a:bodyPr wrap="square" lIns="0" tIns="0" rIns="0" bIns="0" rtlCol="0" anchor="ctr"/>
          <a:lstStyle/>
          <a:p>
            <a:pPr indent="0" marL="0">
              <a:buNone/>
            </a:pPr>
            <a:r>
              <a:rPr lang="en-US" sz="1200" b="1" spc="200" kern="0" dirty="0">
                <a:solidFill>
                  <a:srgbClr val="241B13"/>
                </a:solidFill>
                <a:latin typeface="Calibri" pitchFamily="34" charset="0"/>
                <a:ea typeface="Calibri" pitchFamily="34" charset="-122"/>
                <a:cs typeface="Calibri" pitchFamily="34" charset="-120"/>
              </a:rPr>
              <a:t>BACK-END</a:t>
            </a:r>
            <a:endParaRPr lang="en-US" sz="1200" dirty="0"/>
          </a:p>
        </p:txBody>
      </p:sp>
      <p:sp>
        <p:nvSpPr>
          <p:cNvPr id="10" name="Text 8"/>
          <p:cNvSpPr txBox="1"/>
          <p:nvPr/>
        </p:nvSpPr>
        <p:spPr>
          <a:xfrm>
            <a:off x="6492240" y="2240280"/>
            <a:ext cx="4754880" cy="548640"/>
          </a:xfrm>
          <a:prstGeom prst="rect">
            <a:avLst/>
          </a:prstGeom>
          <a:noFill/>
          <a:ln/>
        </p:spPr>
        <p:txBody>
          <a:bodyPr wrap="square" lIns="0" tIns="0" rIns="0" bIns="0" rtlCol="0" anchor="ctr"/>
          <a:lstStyle/>
          <a:p>
            <a:pPr indent="0" marL="0">
              <a:buNone/>
            </a:pPr>
            <a:r>
              <a:rPr lang="en-US" sz="2400" b="1" dirty="0">
                <a:solidFill>
                  <a:srgbClr val="241B13"/>
                </a:solidFill>
                <a:latin typeface="Cambria" pitchFamily="34" charset="0"/>
                <a:ea typeface="Cambria" pitchFamily="34" charset="-122"/>
                <a:cs typeface="Cambria" pitchFamily="34" charset="-120"/>
              </a:rPr>
              <a:t>Laravel 10</a:t>
            </a:r>
            <a:endParaRPr lang="en-US" sz="2400" dirty="0"/>
          </a:p>
        </p:txBody>
      </p:sp>
      <p:sp>
        <p:nvSpPr>
          <p:cNvPr id="11" name="Text 9"/>
          <p:cNvSpPr txBox="1"/>
          <p:nvPr/>
        </p:nvSpPr>
        <p:spPr>
          <a:xfrm>
            <a:off x="6492240" y="2834640"/>
            <a:ext cx="4754880" cy="45720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API REST, logique métier, sécurité</a:t>
            </a:r>
            <a:endParaRPr lang="en-US" sz="1300" dirty="0"/>
          </a:p>
        </p:txBody>
      </p:sp>
      <p:sp>
        <p:nvSpPr>
          <p:cNvPr id="12" name="Shape 10"/>
          <p:cNvSpPr/>
          <p:nvPr/>
        </p:nvSpPr>
        <p:spPr>
          <a:xfrm>
            <a:off x="640080" y="3749040"/>
            <a:ext cx="5303520" cy="1828800"/>
          </a:xfrm>
          <a:prstGeom prst="roundRect">
            <a:avLst>
              <a:gd name="adj" fmla="val 4000"/>
            </a:avLst>
          </a:prstGeom>
          <a:solidFill>
            <a:srgbClr val="F5ECDD"/>
          </a:solidFill>
          <a:ln/>
        </p:spPr>
      </p:sp>
      <p:sp>
        <p:nvSpPr>
          <p:cNvPr id="13" name="Text 11"/>
          <p:cNvSpPr txBox="1"/>
          <p:nvPr/>
        </p:nvSpPr>
        <p:spPr>
          <a:xfrm>
            <a:off x="914400" y="3977640"/>
            <a:ext cx="4572000" cy="365760"/>
          </a:xfrm>
          <a:prstGeom prst="rect">
            <a:avLst/>
          </a:prstGeom>
          <a:noFill/>
          <a:ln/>
        </p:spPr>
        <p:txBody>
          <a:bodyPr wrap="square" lIns="0" tIns="0" rIns="0" bIns="0" rtlCol="0" anchor="ctr"/>
          <a:lstStyle/>
          <a:p>
            <a:pPr indent="0" marL="0">
              <a:buNone/>
            </a:pPr>
            <a:r>
              <a:rPr lang="en-US" sz="1200" b="1" spc="200" kern="0" dirty="0">
                <a:solidFill>
                  <a:srgbClr val="2C5F2D"/>
                </a:solidFill>
                <a:latin typeface="Calibri" pitchFamily="34" charset="0"/>
                <a:ea typeface="Calibri" pitchFamily="34" charset="-122"/>
                <a:cs typeface="Calibri" pitchFamily="34" charset="-120"/>
              </a:rPr>
              <a:t>DONNÉES</a:t>
            </a:r>
            <a:endParaRPr lang="en-US" sz="1200" dirty="0"/>
          </a:p>
        </p:txBody>
      </p:sp>
      <p:sp>
        <p:nvSpPr>
          <p:cNvPr id="14" name="Text 12"/>
          <p:cNvSpPr txBox="1"/>
          <p:nvPr/>
        </p:nvSpPr>
        <p:spPr>
          <a:xfrm>
            <a:off x="914400" y="4343400"/>
            <a:ext cx="4754880" cy="548640"/>
          </a:xfrm>
          <a:prstGeom prst="rect">
            <a:avLst/>
          </a:prstGeom>
          <a:noFill/>
          <a:ln/>
        </p:spPr>
        <p:txBody>
          <a:bodyPr wrap="square" lIns="0" tIns="0" rIns="0" bIns="0" rtlCol="0" anchor="ctr"/>
          <a:lstStyle/>
          <a:p>
            <a:pPr indent="0" marL="0">
              <a:buNone/>
            </a:pPr>
            <a:r>
              <a:rPr lang="en-US" sz="2400" b="1" dirty="0">
                <a:solidFill>
                  <a:srgbClr val="241B13"/>
                </a:solidFill>
                <a:latin typeface="Cambria" pitchFamily="34" charset="0"/>
                <a:ea typeface="Cambria" pitchFamily="34" charset="-122"/>
                <a:cs typeface="Cambria" pitchFamily="34" charset="-120"/>
              </a:rPr>
              <a:t>PostgreSQL</a:t>
            </a:r>
            <a:endParaRPr lang="en-US" sz="2400" dirty="0"/>
          </a:p>
        </p:txBody>
      </p:sp>
      <p:sp>
        <p:nvSpPr>
          <p:cNvPr id="15" name="Text 13"/>
          <p:cNvSpPr txBox="1"/>
          <p:nvPr/>
        </p:nvSpPr>
        <p:spPr>
          <a:xfrm>
            <a:off x="914400" y="4937760"/>
            <a:ext cx="4754880" cy="45720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Base relationnelle (métier)</a:t>
            </a:r>
            <a:endParaRPr lang="en-US" sz="1300" dirty="0"/>
          </a:p>
        </p:txBody>
      </p:sp>
      <p:sp>
        <p:nvSpPr>
          <p:cNvPr id="16" name="Shape 14"/>
          <p:cNvSpPr/>
          <p:nvPr/>
        </p:nvSpPr>
        <p:spPr>
          <a:xfrm>
            <a:off x="6217920" y="3749040"/>
            <a:ext cx="5303520" cy="1828800"/>
          </a:xfrm>
          <a:prstGeom prst="roundRect">
            <a:avLst>
              <a:gd name="adj" fmla="val 4000"/>
            </a:avLst>
          </a:prstGeom>
          <a:solidFill>
            <a:srgbClr val="F5ECDD"/>
          </a:solidFill>
          <a:ln/>
        </p:spPr>
      </p:sp>
      <p:sp>
        <p:nvSpPr>
          <p:cNvPr id="17" name="Text 15"/>
          <p:cNvSpPr txBox="1"/>
          <p:nvPr/>
        </p:nvSpPr>
        <p:spPr>
          <a:xfrm>
            <a:off x="6492240" y="3977640"/>
            <a:ext cx="4572000" cy="365760"/>
          </a:xfrm>
          <a:prstGeom prst="rect">
            <a:avLst/>
          </a:prstGeom>
          <a:noFill/>
          <a:ln/>
        </p:spPr>
        <p:txBody>
          <a:bodyPr wrap="square" lIns="0" tIns="0" rIns="0" bIns="0" rtlCol="0" anchor="ctr"/>
          <a:lstStyle/>
          <a:p>
            <a:pPr indent="0" marL="0">
              <a:buNone/>
            </a:pPr>
            <a:r>
              <a:rPr lang="en-US" sz="1200" b="1" spc="200" kern="0" dirty="0">
                <a:solidFill>
                  <a:srgbClr val="6B5D4A"/>
                </a:solidFill>
                <a:latin typeface="Calibri" pitchFamily="34" charset="0"/>
                <a:ea typeface="Calibri" pitchFamily="34" charset="-122"/>
                <a:cs typeface="Calibri" pitchFamily="34" charset="-120"/>
              </a:rPr>
              <a:t>NOSQL</a:t>
            </a:r>
            <a:endParaRPr lang="en-US" sz="1200" dirty="0"/>
          </a:p>
        </p:txBody>
      </p:sp>
      <p:sp>
        <p:nvSpPr>
          <p:cNvPr id="18" name="Text 16"/>
          <p:cNvSpPr txBox="1"/>
          <p:nvPr/>
        </p:nvSpPr>
        <p:spPr>
          <a:xfrm>
            <a:off x="6492240" y="4343400"/>
            <a:ext cx="4754880" cy="548640"/>
          </a:xfrm>
          <a:prstGeom prst="rect">
            <a:avLst/>
          </a:prstGeom>
          <a:noFill/>
          <a:ln/>
        </p:spPr>
        <p:txBody>
          <a:bodyPr wrap="square" lIns="0" tIns="0" rIns="0" bIns="0" rtlCol="0" anchor="ctr"/>
          <a:lstStyle/>
          <a:p>
            <a:pPr indent="0" marL="0">
              <a:buNone/>
            </a:pPr>
            <a:r>
              <a:rPr lang="en-US" sz="2400" b="1" dirty="0">
                <a:solidFill>
                  <a:srgbClr val="241B13"/>
                </a:solidFill>
                <a:latin typeface="Cambria" pitchFamily="34" charset="0"/>
                <a:ea typeface="Cambria" pitchFamily="34" charset="-122"/>
                <a:cs typeface="Cambria" pitchFamily="34" charset="-120"/>
              </a:rPr>
              <a:t>MongoDB</a:t>
            </a:r>
            <a:endParaRPr lang="en-US" sz="2400" dirty="0"/>
          </a:p>
        </p:txBody>
      </p:sp>
      <p:sp>
        <p:nvSpPr>
          <p:cNvPr id="19" name="Text 17"/>
          <p:cNvSpPr txBox="1"/>
          <p:nvPr/>
        </p:nvSpPr>
        <p:spPr>
          <a:xfrm>
            <a:off x="6492240" y="4937760"/>
            <a:ext cx="4754880" cy="45720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Statistiques (agrégats)</a:t>
            </a:r>
            <a:endParaRPr lang="en-US" sz="1300" dirty="0"/>
          </a:p>
        </p:txBody>
      </p:sp>
      <p:sp>
        <p:nvSpPr>
          <p:cNvPr id="20" name="Text 18"/>
          <p:cNvSpPr txBox="1"/>
          <p:nvPr/>
        </p:nvSpPr>
        <p:spPr>
          <a:xfrm>
            <a:off x="640080" y="5943600"/>
            <a:ext cx="10881360" cy="457200"/>
          </a:xfrm>
          <a:prstGeom prst="rect">
            <a:avLst/>
          </a:prstGeom>
          <a:noFill/>
          <a:ln/>
        </p:spPr>
        <p:txBody>
          <a:bodyPr wrap="square" rtlCol="0" anchor="ctr"/>
          <a:lstStyle/>
          <a:p>
            <a:pPr algn="ctr" indent="0" marL="0">
              <a:buNone/>
            </a:pPr>
            <a:r>
              <a:rPr lang="en-US" sz="1400" b="1" dirty="0">
                <a:solidFill>
                  <a:srgbClr val="241B13"/>
                </a:solidFill>
                <a:latin typeface="Calibri" pitchFamily="34" charset="0"/>
                <a:ea typeface="Calibri" pitchFamily="34" charset="-122"/>
                <a:cs typeface="Calibri" pitchFamily="34" charset="-120"/>
              </a:rPr>
              <a:t>Déploiement : VPS OVH · Nginx · HTTPS (Let's Encrypt)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41B13"/>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ctr"/>
          <a:lstStyle/>
          <a:p>
            <a:pPr indent="0" marL="0">
              <a:buNone/>
            </a:pPr>
            <a:r>
              <a:rPr lang="en-US" sz="3200" b="1" dirty="0">
                <a:solidFill>
                  <a:srgbClr val="F5ECDD"/>
                </a:solidFill>
                <a:latin typeface="Cambria" pitchFamily="34" charset="0"/>
                <a:ea typeface="Cambria" pitchFamily="34" charset="-122"/>
                <a:cs typeface="Cambria" pitchFamily="34" charset="-120"/>
              </a:rPr>
              <a:t>Architecture 3-tiers découplée</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E3D5BF"/>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2743200" y="1554480"/>
            <a:ext cx="6675120" cy="914400"/>
          </a:xfrm>
          <a:prstGeom prst="roundRect">
            <a:avLst>
              <a:gd name="adj" fmla="val 8000"/>
            </a:avLst>
          </a:prstGeom>
          <a:solidFill>
            <a:srgbClr val="F5ECDD"/>
          </a:solidFill>
          <a:ln/>
        </p:spPr>
      </p:sp>
      <p:sp>
        <p:nvSpPr>
          <p:cNvPr id="5" name="Text 3"/>
          <p:cNvSpPr txBox="1"/>
          <p:nvPr/>
        </p:nvSpPr>
        <p:spPr>
          <a:xfrm>
            <a:off x="2926080" y="1664208"/>
            <a:ext cx="6309360" cy="457200"/>
          </a:xfrm>
          <a:prstGeom prst="rect">
            <a:avLst/>
          </a:prstGeom>
          <a:noFill/>
          <a:ln/>
        </p:spPr>
        <p:txBody>
          <a:bodyPr wrap="square" lIns="0" tIns="0" rIns="0" bIns="0" rtlCol="0" anchor="ctr"/>
          <a:lstStyle/>
          <a:p>
            <a:pPr algn="ctr" indent="0" marL="0">
              <a:buNone/>
            </a:pPr>
            <a:r>
              <a:rPr lang="en-US" sz="1900" b="1" dirty="0">
                <a:solidFill>
                  <a:srgbClr val="241B13"/>
                </a:solidFill>
                <a:latin typeface="Cambria" pitchFamily="34" charset="0"/>
                <a:ea typeface="Cambria" pitchFamily="34" charset="-122"/>
                <a:cs typeface="Cambria" pitchFamily="34" charset="-120"/>
              </a:rPr>
              <a:t>React 19 (SPA)</a:t>
            </a:r>
            <a:endParaRPr lang="en-US" sz="1900" dirty="0"/>
          </a:p>
        </p:txBody>
      </p:sp>
      <p:sp>
        <p:nvSpPr>
          <p:cNvPr id="6" name="Text 4"/>
          <p:cNvSpPr txBox="1"/>
          <p:nvPr/>
        </p:nvSpPr>
        <p:spPr>
          <a:xfrm>
            <a:off x="2926080" y="2084832"/>
            <a:ext cx="6309360" cy="320040"/>
          </a:xfrm>
          <a:prstGeom prst="rect">
            <a:avLst/>
          </a:prstGeom>
          <a:noFill/>
          <a:ln/>
        </p:spPr>
        <p:txBody>
          <a:bodyPr wrap="square" lIns="0" tIns="0" rIns="0" bIns="0" rtlCol="0" anchor="ctr"/>
          <a:lstStyle/>
          <a:p>
            <a:pPr algn="ctr" indent="0" marL="0">
              <a:buNone/>
            </a:pPr>
            <a:r>
              <a:rPr lang="en-US" sz="1200" dirty="0">
                <a:solidFill>
                  <a:srgbClr val="241B13"/>
                </a:solidFill>
                <a:latin typeface="Calibri" pitchFamily="34" charset="0"/>
                <a:ea typeface="Calibri" pitchFamily="34" charset="-122"/>
                <a:cs typeface="Calibri" pitchFamily="34" charset="-120"/>
              </a:rPr>
              <a:t>Frontend — navigateur</a:t>
            </a:r>
            <a:endParaRPr lang="en-US" sz="1200" dirty="0"/>
          </a:p>
        </p:txBody>
      </p:sp>
      <p:sp>
        <p:nvSpPr>
          <p:cNvPr id="7" name="Text 5"/>
          <p:cNvSpPr txBox="1"/>
          <p:nvPr/>
        </p:nvSpPr>
        <p:spPr>
          <a:xfrm>
            <a:off x="5806440" y="2468880"/>
            <a:ext cx="548640" cy="320040"/>
          </a:xfrm>
          <a:prstGeom prst="rect">
            <a:avLst/>
          </a:prstGeom>
          <a:noFill/>
          <a:ln/>
        </p:spPr>
        <p:txBody>
          <a:bodyPr wrap="square" rtlCol="0" anchor="ctr"/>
          <a:lstStyle/>
          <a:p>
            <a:pPr algn="ctr" indent="0" marL="0">
              <a:buNone/>
            </a:pPr>
            <a:r>
              <a:rPr lang="en-US" sz="1400" dirty="0">
                <a:solidFill>
                  <a:srgbClr val="E3D5BF"/>
                </a:solidFill>
              </a:rPr>
              <a:t>▼</a:t>
            </a:r>
            <a:endParaRPr lang="en-US" sz="1400" dirty="0"/>
          </a:p>
        </p:txBody>
      </p:sp>
      <p:sp>
        <p:nvSpPr>
          <p:cNvPr id="8" name="Shape 6"/>
          <p:cNvSpPr/>
          <p:nvPr/>
        </p:nvSpPr>
        <p:spPr>
          <a:xfrm>
            <a:off x="2743200" y="2788920"/>
            <a:ext cx="6675120" cy="914400"/>
          </a:xfrm>
          <a:prstGeom prst="roundRect">
            <a:avLst>
              <a:gd name="adj" fmla="val 8000"/>
            </a:avLst>
          </a:prstGeom>
          <a:solidFill>
            <a:srgbClr val="B1492A"/>
          </a:solidFill>
          <a:ln/>
        </p:spPr>
      </p:sp>
      <p:sp>
        <p:nvSpPr>
          <p:cNvPr id="9" name="Text 7"/>
          <p:cNvSpPr txBox="1"/>
          <p:nvPr/>
        </p:nvSpPr>
        <p:spPr>
          <a:xfrm>
            <a:off x="2926080" y="2898648"/>
            <a:ext cx="630936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API REST (HTTPS / JSON)</a:t>
            </a:r>
            <a:endParaRPr lang="en-US" sz="1900" dirty="0"/>
          </a:p>
        </p:txBody>
      </p:sp>
      <p:sp>
        <p:nvSpPr>
          <p:cNvPr id="10" name="Text 8"/>
          <p:cNvSpPr txBox="1"/>
          <p:nvPr/>
        </p:nvSpPr>
        <p:spPr>
          <a:xfrm>
            <a:off x="2926080" y="3319272"/>
            <a:ext cx="6309360" cy="3200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Communication découplée</a:t>
            </a:r>
            <a:endParaRPr lang="en-US" sz="1200" dirty="0"/>
          </a:p>
        </p:txBody>
      </p:sp>
      <p:sp>
        <p:nvSpPr>
          <p:cNvPr id="11" name="Text 9"/>
          <p:cNvSpPr txBox="1"/>
          <p:nvPr/>
        </p:nvSpPr>
        <p:spPr>
          <a:xfrm>
            <a:off x="5806440" y="3703320"/>
            <a:ext cx="548640" cy="320040"/>
          </a:xfrm>
          <a:prstGeom prst="rect">
            <a:avLst/>
          </a:prstGeom>
          <a:noFill/>
          <a:ln/>
        </p:spPr>
        <p:txBody>
          <a:bodyPr wrap="square" rtlCol="0" anchor="ctr"/>
          <a:lstStyle/>
          <a:p>
            <a:pPr algn="ctr" indent="0" marL="0">
              <a:buNone/>
            </a:pPr>
            <a:r>
              <a:rPr lang="en-US" sz="1400" dirty="0">
                <a:solidFill>
                  <a:srgbClr val="E3D5BF"/>
                </a:solidFill>
              </a:rPr>
              <a:t>▼</a:t>
            </a:r>
            <a:endParaRPr lang="en-US" sz="1400" dirty="0"/>
          </a:p>
        </p:txBody>
      </p:sp>
      <p:sp>
        <p:nvSpPr>
          <p:cNvPr id="12" name="Shape 10"/>
          <p:cNvSpPr/>
          <p:nvPr/>
        </p:nvSpPr>
        <p:spPr>
          <a:xfrm>
            <a:off x="2743200" y="4023360"/>
            <a:ext cx="6675120" cy="914400"/>
          </a:xfrm>
          <a:prstGeom prst="roundRect">
            <a:avLst>
              <a:gd name="adj" fmla="val 8000"/>
            </a:avLst>
          </a:prstGeom>
          <a:solidFill>
            <a:srgbClr val="F5ECDD"/>
          </a:solidFill>
          <a:ln/>
        </p:spPr>
      </p:sp>
      <p:sp>
        <p:nvSpPr>
          <p:cNvPr id="13" name="Text 11"/>
          <p:cNvSpPr txBox="1"/>
          <p:nvPr/>
        </p:nvSpPr>
        <p:spPr>
          <a:xfrm>
            <a:off x="2926080" y="4133088"/>
            <a:ext cx="6309360" cy="457200"/>
          </a:xfrm>
          <a:prstGeom prst="rect">
            <a:avLst/>
          </a:prstGeom>
          <a:noFill/>
          <a:ln/>
        </p:spPr>
        <p:txBody>
          <a:bodyPr wrap="square" lIns="0" tIns="0" rIns="0" bIns="0" rtlCol="0" anchor="ctr"/>
          <a:lstStyle/>
          <a:p>
            <a:pPr algn="ctr" indent="0" marL="0">
              <a:buNone/>
            </a:pPr>
            <a:r>
              <a:rPr lang="en-US" sz="1900" b="1" dirty="0">
                <a:solidFill>
                  <a:srgbClr val="241B13"/>
                </a:solidFill>
                <a:latin typeface="Cambria" pitchFamily="34" charset="0"/>
                <a:ea typeface="Cambria" pitchFamily="34" charset="-122"/>
                <a:cs typeface="Cambria" pitchFamily="34" charset="-120"/>
              </a:rPr>
              <a:t>Laravel 10 / PHP 8.2</a:t>
            </a:r>
            <a:endParaRPr lang="en-US" sz="1900" dirty="0"/>
          </a:p>
        </p:txBody>
      </p:sp>
      <p:sp>
        <p:nvSpPr>
          <p:cNvPr id="14" name="Text 12"/>
          <p:cNvSpPr txBox="1"/>
          <p:nvPr/>
        </p:nvSpPr>
        <p:spPr>
          <a:xfrm>
            <a:off x="2926080" y="4553712"/>
            <a:ext cx="6309360" cy="320040"/>
          </a:xfrm>
          <a:prstGeom prst="rect">
            <a:avLst/>
          </a:prstGeom>
          <a:noFill/>
          <a:ln/>
        </p:spPr>
        <p:txBody>
          <a:bodyPr wrap="square" lIns="0" tIns="0" rIns="0" bIns="0" rtlCol="0" anchor="ctr"/>
          <a:lstStyle/>
          <a:p>
            <a:pPr algn="ctr" indent="0" marL="0">
              <a:buNone/>
            </a:pPr>
            <a:r>
              <a:rPr lang="en-US" sz="1200" dirty="0">
                <a:solidFill>
                  <a:srgbClr val="241B13"/>
                </a:solidFill>
                <a:latin typeface="Calibri" pitchFamily="34" charset="0"/>
                <a:ea typeface="Calibri" pitchFamily="34" charset="-122"/>
                <a:cs typeface="Calibri" pitchFamily="34" charset="-120"/>
              </a:rPr>
              <a:t>Backend — logique métier</a:t>
            </a:r>
            <a:endParaRPr lang="en-US" sz="1200" dirty="0"/>
          </a:p>
        </p:txBody>
      </p:sp>
      <p:sp>
        <p:nvSpPr>
          <p:cNvPr id="15" name="Text 13"/>
          <p:cNvSpPr txBox="1"/>
          <p:nvPr/>
        </p:nvSpPr>
        <p:spPr>
          <a:xfrm>
            <a:off x="5806440" y="4937760"/>
            <a:ext cx="548640" cy="320040"/>
          </a:xfrm>
          <a:prstGeom prst="rect">
            <a:avLst/>
          </a:prstGeom>
          <a:noFill/>
          <a:ln/>
        </p:spPr>
        <p:txBody>
          <a:bodyPr wrap="square" rtlCol="0" anchor="ctr"/>
          <a:lstStyle/>
          <a:p>
            <a:pPr algn="ctr" indent="0" marL="0">
              <a:buNone/>
            </a:pPr>
            <a:r>
              <a:rPr lang="en-US" sz="1400" dirty="0">
                <a:solidFill>
                  <a:srgbClr val="E3D5BF"/>
                </a:solidFill>
              </a:rPr>
              <a:t>▼</a:t>
            </a:r>
            <a:endParaRPr lang="en-US" sz="1400" dirty="0"/>
          </a:p>
        </p:txBody>
      </p:sp>
      <p:sp>
        <p:nvSpPr>
          <p:cNvPr id="16" name="Shape 14"/>
          <p:cNvSpPr/>
          <p:nvPr/>
        </p:nvSpPr>
        <p:spPr>
          <a:xfrm>
            <a:off x="2743200" y="5257800"/>
            <a:ext cx="6675120" cy="914400"/>
          </a:xfrm>
          <a:prstGeom prst="roundRect">
            <a:avLst>
              <a:gd name="adj" fmla="val 8000"/>
            </a:avLst>
          </a:prstGeom>
          <a:solidFill>
            <a:srgbClr val="E3D5BF"/>
          </a:solidFill>
          <a:ln/>
        </p:spPr>
      </p:sp>
      <p:sp>
        <p:nvSpPr>
          <p:cNvPr id="17" name="Text 15"/>
          <p:cNvSpPr txBox="1"/>
          <p:nvPr/>
        </p:nvSpPr>
        <p:spPr>
          <a:xfrm>
            <a:off x="2926080" y="5367528"/>
            <a:ext cx="6309360" cy="457200"/>
          </a:xfrm>
          <a:prstGeom prst="rect">
            <a:avLst/>
          </a:prstGeom>
          <a:noFill/>
          <a:ln/>
        </p:spPr>
        <p:txBody>
          <a:bodyPr wrap="square" lIns="0" tIns="0" rIns="0" bIns="0" rtlCol="0" anchor="ctr"/>
          <a:lstStyle/>
          <a:p>
            <a:pPr algn="ctr" indent="0" marL="0">
              <a:buNone/>
            </a:pPr>
            <a:r>
              <a:rPr lang="en-US" sz="1900" b="1" dirty="0">
                <a:solidFill>
                  <a:srgbClr val="241B13"/>
                </a:solidFill>
                <a:latin typeface="Cambria" pitchFamily="34" charset="0"/>
                <a:ea typeface="Cambria" pitchFamily="34" charset="-122"/>
                <a:cs typeface="Cambria" pitchFamily="34" charset="-120"/>
              </a:rPr>
              <a:t>PostgreSQL  +  MongoDB</a:t>
            </a:r>
            <a:endParaRPr lang="en-US" sz="1900" dirty="0"/>
          </a:p>
        </p:txBody>
      </p:sp>
      <p:sp>
        <p:nvSpPr>
          <p:cNvPr id="18" name="Text 16"/>
          <p:cNvSpPr txBox="1"/>
          <p:nvPr/>
        </p:nvSpPr>
        <p:spPr>
          <a:xfrm>
            <a:off x="2926080" y="5788152"/>
            <a:ext cx="6309360" cy="320040"/>
          </a:xfrm>
          <a:prstGeom prst="rect">
            <a:avLst/>
          </a:prstGeom>
          <a:noFill/>
          <a:ln/>
        </p:spPr>
        <p:txBody>
          <a:bodyPr wrap="square" lIns="0" tIns="0" rIns="0" bIns="0" rtlCol="0" anchor="ctr"/>
          <a:lstStyle/>
          <a:p>
            <a:pPr algn="ctr" indent="0" marL="0">
              <a:buNone/>
            </a:pPr>
            <a:r>
              <a:rPr lang="en-US" sz="1200" dirty="0">
                <a:solidFill>
                  <a:srgbClr val="241B13"/>
                </a:solidFill>
                <a:latin typeface="Calibri" pitchFamily="34" charset="0"/>
                <a:ea typeface="Calibri" pitchFamily="34" charset="-122"/>
                <a:cs typeface="Calibri" pitchFamily="34" charset="-120"/>
              </a:rPr>
              <a:t>Double persistance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Conception : maquettes (Figma)</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4</a:t>
            </a:r>
            <a:endParaRPr lang="en-US" sz="1200" dirty="0"/>
          </a:p>
        </p:txBody>
      </p:sp>
      <p:pic>
        <p:nvPicPr>
          <p:cNvPr id="4" name="Image 0" descr="Accueil.png">    </p:cNvPr>
          <p:cNvPicPr>
            <a:picLocks noChangeAspect="1"/>
          </p:cNvPicPr>
          <p:nvPr/>
        </p:nvPicPr>
        <p:blipFill>
          <a:blip r:embed="rId1"/>
          <a:srcRect l="0" r="0" t="0" b="0"/>
          <a:stretch/>
        </p:blipFill>
        <p:spPr>
          <a:xfrm>
            <a:off x="640080" y="1554480"/>
            <a:ext cx="5394960" cy="3840480"/>
          </a:xfrm>
          <a:prstGeom prst="rect">
            <a:avLst/>
          </a:prstGeom>
        </p:spPr>
      </p:pic>
      <p:pic>
        <p:nvPicPr>
          <p:cNvPr id="5" name="Image 1" descr="Menus.png">    </p:cNvPr>
          <p:cNvPicPr>
            <a:picLocks noChangeAspect="1"/>
          </p:cNvPicPr>
          <p:nvPr/>
        </p:nvPicPr>
        <p:blipFill>
          <a:blip r:embed="rId2"/>
          <a:srcRect l="0" r="0" t="0" b="0"/>
          <a:stretch/>
        </p:blipFill>
        <p:spPr>
          <a:xfrm>
            <a:off x="6309360" y="1554480"/>
            <a:ext cx="5394960" cy="3840480"/>
          </a:xfrm>
          <a:prstGeom prst="rect">
            <a:avLst/>
          </a:prstGeom>
        </p:spPr>
      </p:pic>
      <p:sp>
        <p:nvSpPr>
          <p:cNvPr id="6" name="Text 2"/>
          <p:cNvSpPr txBox="1"/>
          <p:nvPr/>
        </p:nvSpPr>
        <p:spPr>
          <a:xfrm>
            <a:off x="640080" y="5440680"/>
            <a:ext cx="5394960" cy="365760"/>
          </a:xfrm>
          <a:prstGeom prst="rect">
            <a:avLst/>
          </a:prstGeom>
          <a:noFill/>
          <a:ln/>
        </p:spPr>
        <p:txBody>
          <a:bodyPr wrap="square" rtlCol="0" anchor="ctr"/>
          <a:lstStyle/>
          <a:p>
            <a:pPr algn="ctr" indent="0" marL="0">
              <a:buNone/>
            </a:pPr>
            <a:r>
              <a:rPr lang="en-US" sz="1300" b="1" dirty="0">
                <a:solidFill>
                  <a:srgbClr val="241B13"/>
                </a:solidFill>
                <a:latin typeface="Calibri" pitchFamily="34" charset="0"/>
                <a:ea typeface="Calibri" pitchFamily="34" charset="-122"/>
                <a:cs typeface="Calibri" pitchFamily="34" charset="-120"/>
              </a:rPr>
              <a:t>Page d'accueil</a:t>
            </a:r>
            <a:endParaRPr lang="en-US" sz="1300" dirty="0"/>
          </a:p>
        </p:txBody>
      </p:sp>
      <p:sp>
        <p:nvSpPr>
          <p:cNvPr id="7" name="Text 3"/>
          <p:cNvSpPr txBox="1"/>
          <p:nvPr/>
        </p:nvSpPr>
        <p:spPr>
          <a:xfrm>
            <a:off x="6309360" y="5440680"/>
            <a:ext cx="5394960" cy="365760"/>
          </a:xfrm>
          <a:prstGeom prst="rect">
            <a:avLst/>
          </a:prstGeom>
          <a:noFill/>
          <a:ln/>
        </p:spPr>
        <p:txBody>
          <a:bodyPr wrap="square" rtlCol="0" anchor="ctr"/>
          <a:lstStyle/>
          <a:p>
            <a:pPr algn="ctr" indent="0" marL="0">
              <a:buNone/>
            </a:pPr>
            <a:r>
              <a:rPr lang="en-US" sz="1300" b="1" dirty="0">
                <a:solidFill>
                  <a:srgbClr val="241B13"/>
                </a:solidFill>
                <a:latin typeface="Calibri" pitchFamily="34" charset="0"/>
                <a:ea typeface="Calibri" pitchFamily="34" charset="-122"/>
                <a:cs typeface="Calibri" pitchFamily="34" charset="-120"/>
              </a:rPr>
              <a:t>Page « Nos Menus »</a:t>
            </a:r>
            <a:endParaRPr lang="en-US" sz="1300" dirty="0"/>
          </a:p>
        </p:txBody>
      </p:sp>
      <p:sp>
        <p:nvSpPr>
          <p:cNvPr id="8" name="Text 4"/>
          <p:cNvSpPr txBox="1"/>
          <p:nvPr/>
        </p:nvSpPr>
        <p:spPr>
          <a:xfrm>
            <a:off x="640080" y="5943600"/>
            <a:ext cx="10881360" cy="457200"/>
          </a:xfrm>
          <a:prstGeom prst="rect">
            <a:avLst/>
          </a:prstGeom>
          <a:noFill/>
          <a:ln/>
        </p:spPr>
        <p:txBody>
          <a:bodyPr wrap="square" rtlCol="0" anchor="ctr"/>
          <a:lstStyle/>
          <a:p>
            <a:pPr algn="ctr" indent="0" marL="0">
              <a:buNone/>
            </a:pPr>
            <a:r>
              <a:rPr lang="en-US" sz="1300" i="1" dirty="0">
                <a:solidFill>
                  <a:srgbClr val="6B5D4A"/>
                </a:solidFill>
                <a:latin typeface="Calibri" pitchFamily="34" charset="0"/>
                <a:ea typeface="Calibri" pitchFamily="34" charset="-122"/>
                <a:cs typeface="Calibri" pitchFamily="34" charset="-120"/>
              </a:rPr>
              <a:t>Maquettes réalisées sous Figma avant le développement, pour valider la structure avec le client.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Charte graphique</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4</a:t>
            </a:r>
            <a:endParaRPr lang="en-US" sz="1200" dirty="0"/>
          </a:p>
        </p:txBody>
      </p:sp>
      <p:sp>
        <p:nvSpPr>
          <p:cNvPr id="4" name="Shape 2"/>
          <p:cNvSpPr/>
          <p:nvPr/>
        </p:nvSpPr>
        <p:spPr>
          <a:xfrm>
            <a:off x="822960" y="1737360"/>
            <a:ext cx="2377440" cy="1645920"/>
          </a:xfrm>
          <a:prstGeom prst="roundRect">
            <a:avLst>
              <a:gd name="adj" fmla="val 3333"/>
            </a:avLst>
          </a:prstGeom>
          <a:solidFill>
            <a:srgbClr val="F5ECDD"/>
          </a:solidFill>
          <a:ln w="12700">
            <a:solidFill>
              <a:srgbClr val="E3D5BF"/>
            </a:solidFill>
            <a:prstDash val="solid"/>
          </a:ln>
        </p:spPr>
      </p:sp>
      <p:sp>
        <p:nvSpPr>
          <p:cNvPr id="5" name="Text 3"/>
          <p:cNvSpPr txBox="1"/>
          <p:nvPr/>
        </p:nvSpPr>
        <p:spPr>
          <a:xfrm>
            <a:off x="822960" y="3429000"/>
            <a:ext cx="2377440" cy="365760"/>
          </a:xfrm>
          <a:prstGeom prst="rect">
            <a:avLst/>
          </a:prstGeom>
          <a:noFill/>
          <a:ln/>
        </p:spPr>
        <p:txBody>
          <a:bodyPr wrap="square" rtlCol="0" anchor="ctr"/>
          <a:lstStyle/>
          <a:p>
            <a:pPr algn="ctr" indent="0" marL="0">
              <a:buNone/>
            </a:pPr>
            <a:r>
              <a:rPr lang="en-US" sz="1300" b="1" dirty="0">
                <a:solidFill>
                  <a:srgbClr val="241B13"/>
                </a:solidFill>
                <a:latin typeface="Courier New" pitchFamily="34" charset="0"/>
                <a:ea typeface="Courier New" pitchFamily="34" charset="-122"/>
                <a:cs typeface="Courier New" pitchFamily="34" charset="-120"/>
              </a:rPr>
              <a:t>#F5ECDD</a:t>
            </a:r>
            <a:endParaRPr lang="en-US" sz="1300" dirty="0"/>
          </a:p>
        </p:txBody>
      </p:sp>
      <p:sp>
        <p:nvSpPr>
          <p:cNvPr id="6" name="Text 4"/>
          <p:cNvSpPr txBox="1"/>
          <p:nvPr/>
        </p:nvSpPr>
        <p:spPr>
          <a:xfrm>
            <a:off x="822960" y="3794760"/>
            <a:ext cx="2377440" cy="365760"/>
          </a:xfrm>
          <a:prstGeom prst="rect">
            <a:avLst/>
          </a:prstGeom>
          <a:noFill/>
          <a:ln/>
        </p:spPr>
        <p:txBody>
          <a:bodyPr wrap="square" rtlCol="0" anchor="ctr"/>
          <a:lstStyle/>
          <a:p>
            <a:pPr algn="ctr" indent="0" marL="0">
              <a:buNone/>
            </a:pPr>
            <a:r>
              <a:rPr lang="en-US" sz="1500" b="1" dirty="0">
                <a:solidFill>
                  <a:srgbClr val="241B13"/>
                </a:solidFill>
                <a:latin typeface="Calibri" pitchFamily="34" charset="0"/>
                <a:ea typeface="Calibri" pitchFamily="34" charset="-122"/>
                <a:cs typeface="Calibri" pitchFamily="34" charset="-120"/>
              </a:rPr>
              <a:t>Crème</a:t>
            </a:r>
            <a:endParaRPr lang="en-US" sz="1500" dirty="0"/>
          </a:p>
        </p:txBody>
      </p:sp>
      <p:sp>
        <p:nvSpPr>
          <p:cNvPr id="7" name="Text 5"/>
          <p:cNvSpPr txBox="1"/>
          <p:nvPr/>
        </p:nvSpPr>
        <p:spPr>
          <a:xfrm>
            <a:off x="822960" y="4114800"/>
            <a:ext cx="2377440" cy="365760"/>
          </a:xfrm>
          <a:prstGeom prst="rect">
            <a:avLst/>
          </a:prstGeom>
          <a:noFill/>
          <a:ln/>
        </p:spPr>
        <p:txBody>
          <a:bodyPr wrap="square" rtlCol="0" anchor="ctr"/>
          <a:lstStyle/>
          <a:p>
            <a:pPr algn="ctr" indent="0" marL="0">
              <a:buNone/>
            </a:pPr>
            <a:r>
              <a:rPr lang="en-US" sz="1200" dirty="0">
                <a:solidFill>
                  <a:srgbClr val="6B5D4A"/>
                </a:solidFill>
                <a:latin typeface="Calibri" pitchFamily="34" charset="0"/>
                <a:ea typeface="Calibri" pitchFamily="34" charset="-122"/>
                <a:cs typeface="Calibri" pitchFamily="34" charset="-120"/>
              </a:rPr>
              <a:t>Fond</a:t>
            </a:r>
            <a:endParaRPr lang="en-US" sz="1200" dirty="0"/>
          </a:p>
        </p:txBody>
      </p:sp>
      <p:sp>
        <p:nvSpPr>
          <p:cNvPr id="8" name="Shape 6"/>
          <p:cNvSpPr/>
          <p:nvPr/>
        </p:nvSpPr>
        <p:spPr>
          <a:xfrm>
            <a:off x="3566160" y="1737360"/>
            <a:ext cx="2377440" cy="1645920"/>
          </a:xfrm>
          <a:prstGeom prst="roundRect">
            <a:avLst>
              <a:gd name="adj" fmla="val 3333"/>
            </a:avLst>
          </a:prstGeom>
          <a:solidFill>
            <a:srgbClr val="B1492A"/>
          </a:solidFill>
          <a:ln w="12700">
            <a:solidFill>
              <a:srgbClr val="E3D5BF"/>
            </a:solidFill>
            <a:prstDash val="solid"/>
          </a:ln>
        </p:spPr>
      </p:sp>
      <p:sp>
        <p:nvSpPr>
          <p:cNvPr id="9" name="Text 7"/>
          <p:cNvSpPr txBox="1"/>
          <p:nvPr/>
        </p:nvSpPr>
        <p:spPr>
          <a:xfrm>
            <a:off x="3566160" y="3429000"/>
            <a:ext cx="2377440" cy="365760"/>
          </a:xfrm>
          <a:prstGeom prst="rect">
            <a:avLst/>
          </a:prstGeom>
          <a:noFill/>
          <a:ln/>
        </p:spPr>
        <p:txBody>
          <a:bodyPr wrap="square" rtlCol="0" anchor="ctr"/>
          <a:lstStyle/>
          <a:p>
            <a:pPr algn="ctr" indent="0" marL="0">
              <a:buNone/>
            </a:pPr>
            <a:r>
              <a:rPr lang="en-US" sz="1300" b="1" dirty="0">
                <a:solidFill>
                  <a:srgbClr val="241B13"/>
                </a:solidFill>
                <a:latin typeface="Courier New" pitchFamily="34" charset="0"/>
                <a:ea typeface="Courier New" pitchFamily="34" charset="-122"/>
                <a:cs typeface="Courier New" pitchFamily="34" charset="-120"/>
              </a:rPr>
              <a:t>#B1492A</a:t>
            </a:r>
            <a:endParaRPr lang="en-US" sz="1300" dirty="0"/>
          </a:p>
        </p:txBody>
      </p:sp>
      <p:sp>
        <p:nvSpPr>
          <p:cNvPr id="10" name="Text 8"/>
          <p:cNvSpPr txBox="1"/>
          <p:nvPr/>
        </p:nvSpPr>
        <p:spPr>
          <a:xfrm>
            <a:off x="3566160" y="3794760"/>
            <a:ext cx="2377440" cy="365760"/>
          </a:xfrm>
          <a:prstGeom prst="rect">
            <a:avLst/>
          </a:prstGeom>
          <a:noFill/>
          <a:ln/>
        </p:spPr>
        <p:txBody>
          <a:bodyPr wrap="square" rtlCol="0" anchor="ctr"/>
          <a:lstStyle/>
          <a:p>
            <a:pPr algn="ctr" indent="0" marL="0">
              <a:buNone/>
            </a:pPr>
            <a:r>
              <a:rPr lang="en-US" sz="1500" b="1" dirty="0">
                <a:solidFill>
                  <a:srgbClr val="241B13"/>
                </a:solidFill>
                <a:latin typeface="Calibri" pitchFamily="34" charset="0"/>
                <a:ea typeface="Calibri" pitchFamily="34" charset="-122"/>
                <a:cs typeface="Calibri" pitchFamily="34" charset="-120"/>
              </a:rPr>
              <a:t>Terracotta</a:t>
            </a:r>
            <a:endParaRPr lang="en-US" sz="1500" dirty="0"/>
          </a:p>
        </p:txBody>
      </p:sp>
      <p:sp>
        <p:nvSpPr>
          <p:cNvPr id="11" name="Text 9"/>
          <p:cNvSpPr txBox="1"/>
          <p:nvPr/>
        </p:nvSpPr>
        <p:spPr>
          <a:xfrm>
            <a:off x="3566160" y="4114800"/>
            <a:ext cx="2377440" cy="365760"/>
          </a:xfrm>
          <a:prstGeom prst="rect">
            <a:avLst/>
          </a:prstGeom>
          <a:noFill/>
          <a:ln/>
        </p:spPr>
        <p:txBody>
          <a:bodyPr wrap="square" rtlCol="0" anchor="ctr"/>
          <a:lstStyle/>
          <a:p>
            <a:pPr algn="ctr" indent="0" marL="0">
              <a:buNone/>
            </a:pPr>
            <a:r>
              <a:rPr lang="en-US" sz="1200" dirty="0">
                <a:solidFill>
                  <a:srgbClr val="6B5D4A"/>
                </a:solidFill>
                <a:latin typeface="Calibri" pitchFamily="34" charset="0"/>
                <a:ea typeface="Calibri" pitchFamily="34" charset="-122"/>
                <a:cs typeface="Calibri" pitchFamily="34" charset="-120"/>
              </a:rPr>
              <a:t>Boutons, accents</a:t>
            </a:r>
            <a:endParaRPr lang="en-US" sz="1200" dirty="0"/>
          </a:p>
        </p:txBody>
      </p:sp>
      <p:sp>
        <p:nvSpPr>
          <p:cNvPr id="12" name="Shape 10"/>
          <p:cNvSpPr/>
          <p:nvPr/>
        </p:nvSpPr>
        <p:spPr>
          <a:xfrm>
            <a:off x="6309360" y="1737360"/>
            <a:ext cx="2377440" cy="1645920"/>
          </a:xfrm>
          <a:prstGeom prst="roundRect">
            <a:avLst>
              <a:gd name="adj" fmla="val 3333"/>
            </a:avLst>
          </a:prstGeom>
          <a:solidFill>
            <a:srgbClr val="241B13"/>
          </a:solidFill>
          <a:ln w="12700">
            <a:solidFill>
              <a:srgbClr val="E3D5BF"/>
            </a:solidFill>
            <a:prstDash val="solid"/>
          </a:ln>
        </p:spPr>
      </p:sp>
      <p:sp>
        <p:nvSpPr>
          <p:cNvPr id="13" name="Text 11"/>
          <p:cNvSpPr txBox="1"/>
          <p:nvPr/>
        </p:nvSpPr>
        <p:spPr>
          <a:xfrm>
            <a:off x="6309360" y="3429000"/>
            <a:ext cx="2377440" cy="365760"/>
          </a:xfrm>
          <a:prstGeom prst="rect">
            <a:avLst/>
          </a:prstGeom>
          <a:noFill/>
          <a:ln/>
        </p:spPr>
        <p:txBody>
          <a:bodyPr wrap="square" rtlCol="0" anchor="ctr"/>
          <a:lstStyle/>
          <a:p>
            <a:pPr algn="ctr" indent="0" marL="0">
              <a:buNone/>
            </a:pPr>
            <a:r>
              <a:rPr lang="en-US" sz="1300" b="1" dirty="0">
                <a:solidFill>
                  <a:srgbClr val="241B13"/>
                </a:solidFill>
                <a:latin typeface="Courier New" pitchFamily="34" charset="0"/>
                <a:ea typeface="Courier New" pitchFamily="34" charset="-122"/>
                <a:cs typeface="Courier New" pitchFamily="34" charset="-120"/>
              </a:rPr>
              <a:t>#241B13</a:t>
            </a:r>
            <a:endParaRPr lang="en-US" sz="1300" dirty="0"/>
          </a:p>
        </p:txBody>
      </p:sp>
      <p:sp>
        <p:nvSpPr>
          <p:cNvPr id="14" name="Text 12"/>
          <p:cNvSpPr txBox="1"/>
          <p:nvPr/>
        </p:nvSpPr>
        <p:spPr>
          <a:xfrm>
            <a:off x="6309360" y="3794760"/>
            <a:ext cx="2377440" cy="365760"/>
          </a:xfrm>
          <a:prstGeom prst="rect">
            <a:avLst/>
          </a:prstGeom>
          <a:noFill/>
          <a:ln/>
        </p:spPr>
        <p:txBody>
          <a:bodyPr wrap="square" rtlCol="0" anchor="ctr"/>
          <a:lstStyle/>
          <a:p>
            <a:pPr algn="ctr" indent="0" marL="0">
              <a:buNone/>
            </a:pPr>
            <a:r>
              <a:rPr lang="en-US" sz="1500" b="1" dirty="0">
                <a:solidFill>
                  <a:srgbClr val="241B13"/>
                </a:solidFill>
                <a:latin typeface="Calibri" pitchFamily="34" charset="0"/>
                <a:ea typeface="Calibri" pitchFamily="34" charset="-122"/>
                <a:cs typeface="Calibri" pitchFamily="34" charset="-120"/>
              </a:rPr>
              <a:t>Brun foncé</a:t>
            </a:r>
            <a:endParaRPr lang="en-US" sz="1500" dirty="0"/>
          </a:p>
        </p:txBody>
      </p:sp>
      <p:sp>
        <p:nvSpPr>
          <p:cNvPr id="15" name="Text 13"/>
          <p:cNvSpPr txBox="1"/>
          <p:nvPr/>
        </p:nvSpPr>
        <p:spPr>
          <a:xfrm>
            <a:off x="6309360" y="4114800"/>
            <a:ext cx="2377440" cy="365760"/>
          </a:xfrm>
          <a:prstGeom prst="rect">
            <a:avLst/>
          </a:prstGeom>
          <a:noFill/>
          <a:ln/>
        </p:spPr>
        <p:txBody>
          <a:bodyPr wrap="square" rtlCol="0" anchor="ctr"/>
          <a:lstStyle/>
          <a:p>
            <a:pPr algn="ctr" indent="0" marL="0">
              <a:buNone/>
            </a:pPr>
            <a:r>
              <a:rPr lang="en-US" sz="1200" dirty="0">
                <a:solidFill>
                  <a:srgbClr val="6B5D4A"/>
                </a:solidFill>
                <a:latin typeface="Calibri" pitchFamily="34" charset="0"/>
                <a:ea typeface="Calibri" pitchFamily="34" charset="-122"/>
                <a:cs typeface="Calibri" pitchFamily="34" charset="-120"/>
              </a:rPr>
              <a:t>Texte, footer</a:t>
            </a:r>
            <a:endParaRPr lang="en-US" sz="1200" dirty="0"/>
          </a:p>
        </p:txBody>
      </p:sp>
      <p:sp>
        <p:nvSpPr>
          <p:cNvPr id="16" name="Shape 14"/>
          <p:cNvSpPr/>
          <p:nvPr/>
        </p:nvSpPr>
        <p:spPr>
          <a:xfrm>
            <a:off x="9052560" y="1737360"/>
            <a:ext cx="2377440" cy="1645920"/>
          </a:xfrm>
          <a:prstGeom prst="roundRect">
            <a:avLst>
              <a:gd name="adj" fmla="val 3333"/>
            </a:avLst>
          </a:prstGeom>
          <a:solidFill>
            <a:srgbClr val="E3D5BF"/>
          </a:solidFill>
          <a:ln w="12700">
            <a:solidFill>
              <a:srgbClr val="E3D5BF"/>
            </a:solidFill>
            <a:prstDash val="solid"/>
          </a:ln>
        </p:spPr>
      </p:sp>
      <p:sp>
        <p:nvSpPr>
          <p:cNvPr id="17" name="Text 15"/>
          <p:cNvSpPr txBox="1"/>
          <p:nvPr/>
        </p:nvSpPr>
        <p:spPr>
          <a:xfrm>
            <a:off x="9052560" y="3429000"/>
            <a:ext cx="2377440" cy="365760"/>
          </a:xfrm>
          <a:prstGeom prst="rect">
            <a:avLst/>
          </a:prstGeom>
          <a:noFill/>
          <a:ln/>
        </p:spPr>
        <p:txBody>
          <a:bodyPr wrap="square" rtlCol="0" anchor="ctr"/>
          <a:lstStyle/>
          <a:p>
            <a:pPr algn="ctr" indent="0" marL="0">
              <a:buNone/>
            </a:pPr>
            <a:r>
              <a:rPr lang="en-US" sz="1300" b="1" dirty="0">
                <a:solidFill>
                  <a:srgbClr val="241B13"/>
                </a:solidFill>
                <a:latin typeface="Courier New" pitchFamily="34" charset="0"/>
                <a:ea typeface="Courier New" pitchFamily="34" charset="-122"/>
                <a:cs typeface="Courier New" pitchFamily="34" charset="-120"/>
              </a:rPr>
              <a:t>#E3D5BF</a:t>
            </a:r>
            <a:endParaRPr lang="en-US" sz="1300" dirty="0"/>
          </a:p>
        </p:txBody>
      </p:sp>
      <p:sp>
        <p:nvSpPr>
          <p:cNvPr id="18" name="Text 16"/>
          <p:cNvSpPr txBox="1"/>
          <p:nvPr/>
        </p:nvSpPr>
        <p:spPr>
          <a:xfrm>
            <a:off x="9052560" y="3794760"/>
            <a:ext cx="2377440" cy="365760"/>
          </a:xfrm>
          <a:prstGeom prst="rect">
            <a:avLst/>
          </a:prstGeom>
          <a:noFill/>
          <a:ln/>
        </p:spPr>
        <p:txBody>
          <a:bodyPr wrap="square" rtlCol="0" anchor="ctr"/>
          <a:lstStyle/>
          <a:p>
            <a:pPr algn="ctr" indent="0" marL="0">
              <a:buNone/>
            </a:pPr>
            <a:r>
              <a:rPr lang="en-US" sz="1500" b="1" dirty="0">
                <a:solidFill>
                  <a:srgbClr val="241B13"/>
                </a:solidFill>
                <a:latin typeface="Calibri" pitchFamily="34" charset="0"/>
                <a:ea typeface="Calibri" pitchFamily="34" charset="-122"/>
                <a:cs typeface="Calibri" pitchFamily="34" charset="-120"/>
              </a:rPr>
              <a:t>Beige</a:t>
            </a:r>
            <a:endParaRPr lang="en-US" sz="1500" dirty="0"/>
          </a:p>
        </p:txBody>
      </p:sp>
      <p:sp>
        <p:nvSpPr>
          <p:cNvPr id="19" name="Text 17"/>
          <p:cNvSpPr txBox="1"/>
          <p:nvPr/>
        </p:nvSpPr>
        <p:spPr>
          <a:xfrm>
            <a:off x="9052560" y="4114800"/>
            <a:ext cx="2377440" cy="365760"/>
          </a:xfrm>
          <a:prstGeom prst="rect">
            <a:avLst/>
          </a:prstGeom>
          <a:noFill/>
          <a:ln/>
        </p:spPr>
        <p:txBody>
          <a:bodyPr wrap="square" rtlCol="0" anchor="ctr"/>
          <a:lstStyle/>
          <a:p>
            <a:pPr algn="ctr" indent="0" marL="0">
              <a:buNone/>
            </a:pPr>
            <a:r>
              <a:rPr lang="en-US" sz="1200" dirty="0">
                <a:solidFill>
                  <a:srgbClr val="6B5D4A"/>
                </a:solidFill>
                <a:latin typeface="Calibri" pitchFamily="34" charset="0"/>
                <a:ea typeface="Calibri" pitchFamily="34" charset="-122"/>
                <a:cs typeface="Calibri" pitchFamily="34" charset="-120"/>
              </a:rPr>
              <a:t>Bordures</a:t>
            </a:r>
            <a:endParaRPr lang="en-US" sz="1200" dirty="0"/>
          </a:p>
        </p:txBody>
      </p:sp>
      <p:sp>
        <p:nvSpPr>
          <p:cNvPr id="20" name="Text 18"/>
          <p:cNvSpPr txBox="1"/>
          <p:nvPr/>
        </p:nvSpPr>
        <p:spPr>
          <a:xfrm>
            <a:off x="822960" y="4846320"/>
            <a:ext cx="10515600" cy="365760"/>
          </a:xfrm>
          <a:prstGeom prst="rect">
            <a:avLst/>
          </a:prstGeom>
          <a:noFill/>
          <a:ln/>
        </p:spPr>
        <p:txBody>
          <a:bodyPr wrap="square" rtlCol="0" anchor="ctr"/>
          <a:lstStyle/>
          <a:p>
            <a:pPr indent="0" marL="0">
              <a:buNone/>
            </a:pPr>
            <a:r>
              <a:rPr lang="en-US" sz="1600" b="1" dirty="0">
                <a:solidFill>
                  <a:srgbClr val="B1492A"/>
                </a:solidFill>
                <a:latin typeface="Calibri" pitchFamily="34" charset="0"/>
                <a:ea typeface="Calibri" pitchFamily="34" charset="-122"/>
                <a:cs typeface="Calibri" pitchFamily="34" charset="-120"/>
              </a:rPr>
              <a:t>Typographie</a:t>
            </a:r>
            <a:endParaRPr lang="en-US" sz="1600" dirty="0"/>
          </a:p>
        </p:txBody>
      </p:sp>
      <p:sp>
        <p:nvSpPr>
          <p:cNvPr id="21" name="Text 19"/>
          <p:cNvSpPr txBox="1"/>
          <p:nvPr/>
        </p:nvSpPr>
        <p:spPr>
          <a:xfrm>
            <a:off x="822960" y="5257800"/>
            <a:ext cx="10515600" cy="731520"/>
          </a:xfrm>
          <a:prstGeom prst="rect">
            <a:avLst/>
          </a:prstGeom>
          <a:noFill/>
          <a:ln/>
        </p:spPr>
        <p:txBody>
          <a:bodyPr wrap="square" rtlCol="0" anchor="ctr"/>
          <a:lstStyle/>
          <a:p>
            <a:pPr indent="0" marL="0">
              <a:buNone/>
            </a:pPr>
            <a:r>
              <a:rPr lang="en-US" sz="1400" b="1" dirty="0">
                <a:solidFill>
                  <a:srgbClr val="241B13"/>
                </a:solidFill>
                <a:latin typeface="Cambria" pitchFamily="34" charset="0"/>
                <a:ea typeface="Cambria" pitchFamily="34" charset="-122"/>
                <a:cs typeface="Cambria" pitchFamily="34" charset="-120"/>
              </a:rPr>
              <a:t>Fraunces</a:t>
            </a:r>
            <a:pPr indent="0" marL="0">
              <a:buNone/>
            </a:pPr>
            <a:r>
              <a:rPr lang="en-US" sz="1400" dirty="0">
                <a:solidFill>
                  <a:srgbClr val="241B13"/>
                </a:solidFill>
                <a:latin typeface="Calibri" pitchFamily="34" charset="0"/>
                <a:ea typeface="Calibri" pitchFamily="34" charset="-122"/>
                <a:cs typeface="Calibri" pitchFamily="34" charset="-120"/>
              </a:rPr>
              <a:t> (serif) pour les titres et le logo — caractère artisanal.   </a:t>
            </a:r>
            <a:pPr indent="0" marL="0">
              <a:buNone/>
            </a:pPr>
            <a:r>
              <a:rPr lang="en-US" sz="1400" b="1" dirty="0">
                <a:solidFill>
                  <a:srgbClr val="241B13"/>
                </a:solidFill>
                <a:latin typeface="Calibri" pitchFamily="34" charset="0"/>
                <a:ea typeface="Calibri" pitchFamily="34" charset="-122"/>
                <a:cs typeface="Calibri" pitchFamily="34" charset="-120"/>
              </a:rPr>
              <a:t>Police système</a:t>
            </a:r>
            <a:pPr indent="0" marL="0">
              <a:buNone/>
            </a:pPr>
            <a:r>
              <a:rPr lang="en-US" sz="1400" dirty="0">
                <a:solidFill>
                  <a:srgbClr val="241B13"/>
                </a:solidFill>
                <a:latin typeface="Calibri" pitchFamily="34" charset="0"/>
                <a:ea typeface="Calibri" pitchFamily="34" charset="-122"/>
                <a:cs typeface="Calibri" pitchFamily="34" charset="-120"/>
              </a:rPr>
              <a:t> (sans-serif) pour le corps — lisibilité optimale.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Fonctionnalités &amp; règles métier</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5</a:t>
            </a:r>
            <a:endParaRPr lang="en-US" sz="1200" dirty="0"/>
          </a:p>
        </p:txBody>
      </p:sp>
      <p:sp>
        <p:nvSpPr>
          <p:cNvPr id="4" name="Shape 2"/>
          <p:cNvSpPr/>
          <p:nvPr/>
        </p:nvSpPr>
        <p:spPr>
          <a:xfrm>
            <a:off x="731520" y="1600200"/>
            <a:ext cx="685800" cy="685800"/>
          </a:xfrm>
          <a:prstGeom prst="ellipse">
            <a:avLst/>
          </a:prstGeom>
          <a:solidFill>
            <a:srgbClr val="B1492A"/>
          </a:solidFill>
          <a:ln/>
        </p:spPr>
      </p:sp>
      <p:sp>
        <p:nvSpPr>
          <p:cNvPr id="5" name="Text 3"/>
          <p:cNvSpPr txBox="1"/>
          <p:nvPr/>
        </p:nvSpPr>
        <p:spPr>
          <a:xfrm>
            <a:off x="731520" y="1600200"/>
            <a:ext cx="685800" cy="68580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6" name="Text 4"/>
          <p:cNvSpPr txBox="1"/>
          <p:nvPr/>
        </p:nvSpPr>
        <p:spPr>
          <a:xfrm>
            <a:off x="1645920" y="1581912"/>
            <a:ext cx="9692640" cy="457200"/>
          </a:xfrm>
          <a:prstGeom prst="rect">
            <a:avLst/>
          </a:prstGeom>
          <a:noFill/>
          <a:ln/>
        </p:spPr>
        <p:txBody>
          <a:bodyPr wrap="square" lIns="0" tIns="0" rIns="0" bIns="0" rtlCol="0" anchor="ctr"/>
          <a:lstStyle/>
          <a:p>
            <a:pPr indent="0" marL="0">
              <a:buNone/>
            </a:pPr>
            <a:r>
              <a:rPr lang="en-US" sz="1700" b="1" dirty="0">
                <a:solidFill>
                  <a:srgbClr val="241B13"/>
                </a:solidFill>
                <a:latin typeface="Calibri" pitchFamily="34" charset="0"/>
                <a:ea typeface="Calibri" pitchFamily="34" charset="-122"/>
                <a:cs typeface="Calibri" pitchFamily="34" charset="-120"/>
              </a:rPr>
              <a:t>Calcul du prix en temps réel</a:t>
            </a:r>
            <a:endParaRPr lang="en-US" sz="1700" dirty="0"/>
          </a:p>
        </p:txBody>
      </p:sp>
      <p:sp>
        <p:nvSpPr>
          <p:cNvPr id="7" name="Text 5"/>
          <p:cNvSpPr txBox="1"/>
          <p:nvPr/>
        </p:nvSpPr>
        <p:spPr>
          <a:xfrm>
            <a:off x="1645920" y="2011680"/>
            <a:ext cx="9692640" cy="54864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Prix de base + remise 10% (si convives ≥ min+5) + livraison (5€ dans Bordeaux, sinon 5€ + 0,59€/km)</a:t>
            </a:r>
            <a:endParaRPr lang="en-US" sz="1300" dirty="0"/>
          </a:p>
        </p:txBody>
      </p:sp>
      <p:sp>
        <p:nvSpPr>
          <p:cNvPr id="8" name="Shape 6"/>
          <p:cNvSpPr/>
          <p:nvPr/>
        </p:nvSpPr>
        <p:spPr>
          <a:xfrm>
            <a:off x="731520" y="2697480"/>
            <a:ext cx="685800" cy="685800"/>
          </a:xfrm>
          <a:prstGeom prst="ellipse">
            <a:avLst/>
          </a:prstGeom>
          <a:solidFill>
            <a:srgbClr val="241B13"/>
          </a:solidFill>
          <a:ln/>
        </p:spPr>
      </p:sp>
      <p:sp>
        <p:nvSpPr>
          <p:cNvPr id="9" name="Text 7"/>
          <p:cNvSpPr txBox="1"/>
          <p:nvPr/>
        </p:nvSpPr>
        <p:spPr>
          <a:xfrm>
            <a:off x="731520" y="2697480"/>
            <a:ext cx="685800" cy="68580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0" name="Text 8"/>
          <p:cNvSpPr txBox="1"/>
          <p:nvPr/>
        </p:nvSpPr>
        <p:spPr>
          <a:xfrm>
            <a:off x="1645920" y="2679192"/>
            <a:ext cx="9692640" cy="457200"/>
          </a:xfrm>
          <a:prstGeom prst="rect">
            <a:avLst/>
          </a:prstGeom>
          <a:noFill/>
          <a:ln/>
        </p:spPr>
        <p:txBody>
          <a:bodyPr wrap="square" lIns="0" tIns="0" rIns="0" bIns="0" rtlCol="0" anchor="ctr"/>
          <a:lstStyle/>
          <a:p>
            <a:pPr indent="0" marL="0">
              <a:buNone/>
            </a:pPr>
            <a:r>
              <a:rPr lang="en-US" sz="1700" b="1" dirty="0">
                <a:solidFill>
                  <a:srgbClr val="241B13"/>
                </a:solidFill>
                <a:latin typeface="Calibri" pitchFamily="34" charset="0"/>
                <a:ea typeface="Calibri" pitchFamily="34" charset="-122"/>
                <a:cs typeface="Calibri" pitchFamily="34" charset="-120"/>
              </a:rPr>
              <a:t>Workflow de commande</a:t>
            </a:r>
            <a:endParaRPr lang="en-US" sz="1700" dirty="0"/>
          </a:p>
        </p:txBody>
      </p:sp>
      <p:sp>
        <p:nvSpPr>
          <p:cNvPr id="11" name="Text 9"/>
          <p:cNvSpPr txBox="1"/>
          <p:nvPr/>
        </p:nvSpPr>
        <p:spPr>
          <a:xfrm>
            <a:off x="1645920" y="3108960"/>
            <a:ext cx="9692640" cy="54864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8 statuts : en attente → acceptée → préparation → livraison → livrée. E-mail auto à chaque étape</a:t>
            </a:r>
            <a:endParaRPr lang="en-US" sz="1300" dirty="0"/>
          </a:p>
        </p:txBody>
      </p:sp>
      <p:sp>
        <p:nvSpPr>
          <p:cNvPr id="12" name="Shape 10"/>
          <p:cNvSpPr/>
          <p:nvPr/>
        </p:nvSpPr>
        <p:spPr>
          <a:xfrm>
            <a:off x="731520" y="3794760"/>
            <a:ext cx="685800" cy="685800"/>
          </a:xfrm>
          <a:prstGeom prst="ellipse">
            <a:avLst/>
          </a:prstGeom>
          <a:solidFill>
            <a:srgbClr val="B1492A"/>
          </a:solidFill>
          <a:ln/>
        </p:spPr>
      </p:sp>
      <p:sp>
        <p:nvSpPr>
          <p:cNvPr id="13" name="Text 11"/>
          <p:cNvSpPr txBox="1"/>
          <p:nvPr/>
        </p:nvSpPr>
        <p:spPr>
          <a:xfrm>
            <a:off x="731520" y="3794760"/>
            <a:ext cx="685800" cy="68580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4" name="Text 12"/>
          <p:cNvSpPr txBox="1"/>
          <p:nvPr/>
        </p:nvSpPr>
        <p:spPr>
          <a:xfrm>
            <a:off x="1645920" y="3776472"/>
            <a:ext cx="9692640" cy="457200"/>
          </a:xfrm>
          <a:prstGeom prst="rect">
            <a:avLst/>
          </a:prstGeom>
          <a:noFill/>
          <a:ln/>
        </p:spPr>
        <p:txBody>
          <a:bodyPr wrap="square" lIns="0" tIns="0" rIns="0" bIns="0" rtlCol="0" anchor="ctr"/>
          <a:lstStyle/>
          <a:p>
            <a:pPr indent="0" marL="0">
              <a:buNone/>
            </a:pPr>
            <a:r>
              <a:rPr lang="en-US" sz="1700" b="1" dirty="0">
                <a:solidFill>
                  <a:srgbClr val="241B13"/>
                </a:solidFill>
                <a:latin typeface="Calibri" pitchFamily="34" charset="0"/>
                <a:ea typeface="Calibri" pitchFamily="34" charset="-122"/>
                <a:cs typeface="Calibri" pitchFamily="34" charset="-120"/>
              </a:rPr>
              <a:t>Sécurité du calcul</a:t>
            </a:r>
            <a:endParaRPr lang="en-US" sz="1700" dirty="0"/>
          </a:p>
        </p:txBody>
      </p:sp>
      <p:sp>
        <p:nvSpPr>
          <p:cNvPr id="15" name="Text 13"/>
          <p:cNvSpPr txBox="1"/>
          <p:nvPr/>
        </p:nvSpPr>
        <p:spPr>
          <a:xfrm>
            <a:off x="1645920" y="4206240"/>
            <a:ext cx="9692640" cy="54864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Le prix est recalculé côté serveur : jamais de confiance au navigateur</a:t>
            </a:r>
            <a:endParaRPr lang="en-US" sz="1300" dirty="0"/>
          </a:p>
        </p:txBody>
      </p:sp>
      <p:sp>
        <p:nvSpPr>
          <p:cNvPr id="16" name="Shape 14"/>
          <p:cNvSpPr/>
          <p:nvPr/>
        </p:nvSpPr>
        <p:spPr>
          <a:xfrm>
            <a:off x="731520" y="4892040"/>
            <a:ext cx="685800" cy="685800"/>
          </a:xfrm>
          <a:prstGeom prst="ellipse">
            <a:avLst/>
          </a:prstGeom>
          <a:solidFill>
            <a:srgbClr val="241B13"/>
          </a:solidFill>
          <a:ln/>
        </p:spPr>
      </p:sp>
      <p:sp>
        <p:nvSpPr>
          <p:cNvPr id="17" name="Text 15"/>
          <p:cNvSpPr txBox="1"/>
          <p:nvPr/>
        </p:nvSpPr>
        <p:spPr>
          <a:xfrm>
            <a:off x="731520" y="4892040"/>
            <a:ext cx="685800" cy="68580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8" name="Text 16"/>
          <p:cNvSpPr txBox="1"/>
          <p:nvPr/>
        </p:nvSpPr>
        <p:spPr>
          <a:xfrm>
            <a:off x="1645920" y="4873752"/>
            <a:ext cx="9692640" cy="457200"/>
          </a:xfrm>
          <a:prstGeom prst="rect">
            <a:avLst/>
          </a:prstGeom>
          <a:noFill/>
          <a:ln/>
        </p:spPr>
        <p:txBody>
          <a:bodyPr wrap="square" lIns="0" tIns="0" rIns="0" bIns="0" rtlCol="0" anchor="ctr"/>
          <a:lstStyle/>
          <a:p>
            <a:pPr indent="0" marL="0">
              <a:buNone/>
            </a:pPr>
            <a:r>
              <a:rPr lang="en-US" sz="1700" b="1" dirty="0">
                <a:solidFill>
                  <a:srgbClr val="241B13"/>
                </a:solidFill>
                <a:latin typeface="Calibri" pitchFamily="34" charset="0"/>
                <a:ea typeface="Calibri" pitchFamily="34" charset="-122"/>
                <a:cs typeface="Calibri" pitchFamily="34" charset="-120"/>
              </a:rPr>
              <a:t>E-mails transactionnels</a:t>
            </a:r>
            <a:endParaRPr lang="en-US" sz="1700" dirty="0"/>
          </a:p>
        </p:txBody>
      </p:sp>
      <p:sp>
        <p:nvSpPr>
          <p:cNvPr id="19" name="Text 17"/>
          <p:cNvSpPr txBox="1"/>
          <p:nvPr/>
        </p:nvSpPr>
        <p:spPr>
          <a:xfrm>
            <a:off x="1645920" y="5303520"/>
            <a:ext cx="9692640" cy="54864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Envoyés via Resend (domaine vérifié) à chaque changement de statut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NoSQL : statistiques (MongoDB)</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5</a:t>
            </a:r>
            <a:endParaRPr lang="en-US" sz="1200" dirty="0"/>
          </a:p>
        </p:txBody>
      </p:sp>
      <p:sp>
        <p:nvSpPr>
          <p:cNvPr id="4" name="Text 2"/>
          <p:cNvSpPr txBox="1"/>
          <p:nvPr/>
        </p:nvSpPr>
        <p:spPr>
          <a:xfrm>
            <a:off x="548640" y="1463040"/>
            <a:ext cx="5486400" cy="457200"/>
          </a:xfrm>
          <a:prstGeom prst="rect">
            <a:avLst/>
          </a:prstGeom>
          <a:noFill/>
          <a:ln/>
        </p:spPr>
        <p:txBody>
          <a:bodyPr wrap="square" rtlCol="0" anchor="ctr"/>
          <a:lstStyle/>
          <a:p>
            <a:pPr indent="0" marL="0">
              <a:buNone/>
            </a:pPr>
            <a:r>
              <a:rPr lang="en-US" sz="1800" b="1" dirty="0">
                <a:solidFill>
                  <a:srgbClr val="B1492A"/>
                </a:solidFill>
                <a:latin typeface="Calibri" pitchFamily="34" charset="0"/>
                <a:ea typeface="Calibri" pitchFamily="34" charset="-122"/>
                <a:cs typeface="Calibri" pitchFamily="34" charset="-120"/>
              </a:rPr>
              <a:t>Pourquoi deux bases ?</a:t>
            </a:r>
            <a:endParaRPr lang="en-US" sz="1800" dirty="0"/>
          </a:p>
        </p:txBody>
      </p:sp>
      <p:sp>
        <p:nvSpPr>
          <p:cNvPr id="5" name="Text 3"/>
          <p:cNvSpPr txBox="1"/>
          <p:nvPr/>
        </p:nvSpPr>
        <p:spPr>
          <a:xfrm>
            <a:off x="548640" y="1965960"/>
            <a:ext cx="5577840" cy="640080"/>
          </a:xfrm>
          <a:prstGeom prst="rect">
            <a:avLst/>
          </a:prstGeom>
          <a:noFill/>
          <a:ln/>
        </p:spPr>
        <p:txBody>
          <a:bodyPr wrap="square" rtlCol="0" anchor="ctr"/>
          <a:lstStyle/>
          <a:p>
            <a:pPr indent="0" marL="0">
              <a:buNone/>
            </a:pPr>
            <a:r>
              <a:rPr lang="en-US" sz="1500" b="1" dirty="0">
                <a:solidFill>
                  <a:srgbClr val="2C5F2D"/>
                </a:solidFill>
                <a:latin typeface="Calibri" pitchFamily="34" charset="0"/>
                <a:ea typeface="Calibri" pitchFamily="34" charset="-122"/>
                <a:cs typeface="Calibri" pitchFamily="34" charset="-120"/>
              </a:rPr>
              <a:t>PostgreSQL</a:t>
            </a:r>
            <a:pPr indent="0" marL="0">
              <a:buNone/>
            </a:pPr>
            <a:r>
              <a:rPr lang="en-US" sz="1500" dirty="0">
                <a:solidFill>
                  <a:srgbClr val="241B13"/>
                </a:solidFill>
                <a:latin typeface="Calibri" pitchFamily="34" charset="0"/>
                <a:ea typeface="Calibri" pitchFamily="34" charset="-122"/>
                <a:cs typeface="Calibri" pitchFamily="34" charset="-120"/>
              </a:rPr>
              <a:t> : cœur transactionnel structuré (intégrité référentielle).</a:t>
            </a:r>
            <a:endParaRPr lang="en-US" sz="1500" dirty="0"/>
          </a:p>
        </p:txBody>
      </p:sp>
      <p:sp>
        <p:nvSpPr>
          <p:cNvPr id="6" name="Text 4"/>
          <p:cNvSpPr txBox="1"/>
          <p:nvPr/>
        </p:nvSpPr>
        <p:spPr>
          <a:xfrm>
            <a:off x="548640" y="2651760"/>
            <a:ext cx="5577840" cy="731520"/>
          </a:xfrm>
          <a:prstGeom prst="rect">
            <a:avLst/>
          </a:prstGeom>
          <a:noFill/>
          <a:ln/>
        </p:spPr>
        <p:txBody>
          <a:bodyPr wrap="square" rtlCol="0" anchor="ctr"/>
          <a:lstStyle/>
          <a:p>
            <a:pPr indent="0" marL="0">
              <a:buNone/>
            </a:pPr>
            <a:r>
              <a:rPr lang="en-US" sz="1500" b="1" dirty="0">
                <a:solidFill>
                  <a:srgbClr val="B1492A"/>
                </a:solidFill>
                <a:latin typeface="Calibri" pitchFamily="34" charset="0"/>
                <a:ea typeface="Calibri" pitchFamily="34" charset="-122"/>
                <a:cs typeface="Calibri" pitchFamily="34" charset="-120"/>
              </a:rPr>
              <a:t>MongoDB</a:t>
            </a:r>
            <a:pPr indent="0" marL="0">
              <a:buNone/>
            </a:pPr>
            <a:r>
              <a:rPr lang="en-US" sz="1500" dirty="0">
                <a:solidFill>
                  <a:srgbClr val="241B13"/>
                </a:solidFill>
                <a:latin typeface="Calibri" pitchFamily="34" charset="0"/>
                <a:ea typeface="Calibri" pitchFamily="34" charset="-122"/>
                <a:cs typeface="Calibri" pitchFamily="34" charset="-120"/>
              </a:rPr>
              <a:t> : agrégats statistiques dénormalisés, lus rapidement pour le tableau de bord.</a:t>
            </a:r>
            <a:endParaRPr lang="en-US" sz="1500" dirty="0"/>
          </a:p>
        </p:txBody>
      </p:sp>
      <p:sp>
        <p:nvSpPr>
          <p:cNvPr id="7" name="Text 5"/>
          <p:cNvSpPr txBox="1"/>
          <p:nvPr/>
        </p:nvSpPr>
        <p:spPr>
          <a:xfrm>
            <a:off x="548640" y="3566160"/>
            <a:ext cx="5486400" cy="457200"/>
          </a:xfrm>
          <a:prstGeom prst="rect">
            <a:avLst/>
          </a:prstGeom>
          <a:noFill/>
          <a:ln/>
        </p:spPr>
        <p:txBody>
          <a:bodyPr wrap="square" rtlCol="0" anchor="ctr"/>
          <a:lstStyle/>
          <a:p>
            <a:pPr indent="0" marL="0">
              <a:buNone/>
            </a:pPr>
            <a:r>
              <a:rPr lang="en-US" sz="1800" b="1" dirty="0">
                <a:solidFill>
                  <a:srgbClr val="B1492A"/>
                </a:solidFill>
                <a:latin typeface="Calibri" pitchFamily="34" charset="0"/>
                <a:ea typeface="Calibri" pitchFamily="34" charset="-122"/>
                <a:cs typeface="Calibri" pitchFamily="34" charset="-120"/>
              </a:rPr>
              <a:t>Comment ?</a:t>
            </a:r>
            <a:endParaRPr lang="en-US" sz="1800" dirty="0"/>
          </a:p>
        </p:txBody>
      </p:sp>
      <p:sp>
        <p:nvSpPr>
          <p:cNvPr id="8" name="Text 6"/>
          <p:cNvSpPr txBox="1"/>
          <p:nvPr/>
        </p:nvSpPr>
        <p:spPr>
          <a:xfrm>
            <a:off x="548640" y="4023360"/>
            <a:ext cx="5577840" cy="1097280"/>
          </a:xfrm>
          <a:prstGeom prst="rect">
            <a:avLst/>
          </a:prstGeom>
          <a:noFill/>
          <a:ln/>
        </p:spPr>
        <p:txBody>
          <a:bodyPr wrap="square" rtlCol="0" anchor="ctr"/>
          <a:lstStyle/>
          <a:p>
            <a:pPr indent="0" marL="0">
              <a:lnSpc>
                <a:spcPct val="115000"/>
              </a:lnSpc>
              <a:buNone/>
            </a:pPr>
            <a:r>
              <a:rPr lang="en-US" sz="1400" dirty="0">
                <a:solidFill>
                  <a:srgbClr val="241B13"/>
                </a:solidFill>
                <a:latin typeface="Calibri" pitchFamily="34" charset="0"/>
                <a:ea typeface="Calibri" pitchFamily="34" charset="-122"/>
                <a:cs typeface="Calibri" pitchFamily="34" charset="-120"/>
              </a:rPr>
              <a:t>À chaque commande, un Observer Laravel copie automatiquement les données dans MongoDB → graphique CA et nombre de commandes par menu.</a:t>
            </a:r>
            <a:endParaRPr lang="en-US" sz="1400" dirty="0"/>
          </a:p>
        </p:txBody>
      </p:sp>
      <p:graphicFrame>
        <p:nvGraphicFramePr>
          <p:cNvPr id="9" name="Chart 0" descr=""/>
          <p:cNvGraphicFramePr/>
          <p:nvPr/>
        </p:nvGraphicFramePr>
        <p:xfrm>
          <a:off x="6583680" y="1737360"/>
          <a:ext cx="4937760" cy="38404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Sécurité à plusieurs niveaux</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7</a:t>
            </a:r>
            <a:endParaRPr lang="en-US" sz="1200" dirty="0"/>
          </a:p>
        </p:txBody>
      </p:sp>
      <p:sp>
        <p:nvSpPr>
          <p:cNvPr id="4" name="Shape 2"/>
          <p:cNvSpPr/>
          <p:nvPr/>
        </p:nvSpPr>
        <p:spPr>
          <a:xfrm>
            <a:off x="640080" y="1645920"/>
            <a:ext cx="5303520" cy="1737360"/>
          </a:xfrm>
          <a:prstGeom prst="roundRect">
            <a:avLst>
              <a:gd name="adj" fmla="val 4211"/>
            </a:avLst>
          </a:prstGeom>
          <a:solidFill>
            <a:srgbClr val="F5ECDD"/>
          </a:solidFill>
          <a:ln/>
        </p:spPr>
      </p:sp>
      <p:sp>
        <p:nvSpPr>
          <p:cNvPr id="5" name="Text 3"/>
          <p:cNvSpPr txBox="1"/>
          <p:nvPr/>
        </p:nvSpPr>
        <p:spPr>
          <a:xfrm>
            <a:off x="914400" y="1874520"/>
            <a:ext cx="4754880" cy="457200"/>
          </a:xfrm>
          <a:prstGeom prst="rect">
            <a:avLst/>
          </a:prstGeom>
          <a:noFill/>
          <a:ln/>
        </p:spPr>
        <p:txBody>
          <a:bodyPr wrap="square" lIns="0" tIns="0" rIns="0" bIns="0"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Authentification</a:t>
            </a:r>
            <a:endParaRPr lang="en-US" sz="1900" dirty="0"/>
          </a:p>
        </p:txBody>
      </p:sp>
      <p:sp>
        <p:nvSpPr>
          <p:cNvPr id="6" name="Text 4"/>
          <p:cNvSpPr txBox="1"/>
          <p:nvPr/>
        </p:nvSpPr>
        <p:spPr>
          <a:xfrm>
            <a:off x="914400" y="2423160"/>
            <a:ext cx="4846320" cy="822960"/>
          </a:xfrm>
          <a:prstGeom prst="rect">
            <a:avLst/>
          </a:prstGeom>
          <a:noFill/>
          <a:ln/>
        </p:spPr>
        <p:txBody>
          <a:bodyPr wrap="square" lIns="0" tIns="0" rIns="0" bIns="0" rtlCol="0" anchor="ctr"/>
          <a:lstStyle/>
          <a:p>
            <a:pPr indent="0" marL="0">
              <a:buNone/>
            </a:pPr>
            <a:r>
              <a:rPr lang="en-US" sz="1300" dirty="0">
                <a:solidFill>
                  <a:srgbClr val="241B13"/>
                </a:solidFill>
                <a:latin typeface="Calibri" pitchFamily="34" charset="0"/>
                <a:ea typeface="Calibri" pitchFamily="34" charset="-122"/>
                <a:cs typeface="Calibri" pitchFamily="34" charset="-120"/>
              </a:rPr>
              <a:t>Tokens Sanctum · mots de passe hachés (bcrypt) · politique stricte</a:t>
            </a:r>
            <a:endParaRPr lang="en-US" sz="1300" dirty="0"/>
          </a:p>
        </p:txBody>
      </p:sp>
      <p:sp>
        <p:nvSpPr>
          <p:cNvPr id="7" name="Shape 5"/>
          <p:cNvSpPr/>
          <p:nvPr/>
        </p:nvSpPr>
        <p:spPr>
          <a:xfrm>
            <a:off x="6217920" y="1645920"/>
            <a:ext cx="5303520" cy="1737360"/>
          </a:xfrm>
          <a:prstGeom prst="roundRect">
            <a:avLst>
              <a:gd name="adj" fmla="val 4211"/>
            </a:avLst>
          </a:prstGeom>
          <a:solidFill>
            <a:srgbClr val="F5ECDD"/>
          </a:solidFill>
          <a:ln/>
        </p:spPr>
      </p:sp>
      <p:sp>
        <p:nvSpPr>
          <p:cNvPr id="8" name="Text 6"/>
          <p:cNvSpPr txBox="1"/>
          <p:nvPr/>
        </p:nvSpPr>
        <p:spPr>
          <a:xfrm>
            <a:off x="6492240" y="1874520"/>
            <a:ext cx="4754880" cy="457200"/>
          </a:xfrm>
          <a:prstGeom prst="rect">
            <a:avLst/>
          </a:prstGeom>
          <a:noFill/>
          <a:ln/>
        </p:spPr>
        <p:txBody>
          <a:bodyPr wrap="square" lIns="0" tIns="0" rIns="0" bIns="0"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Autorisations</a:t>
            </a:r>
            <a:endParaRPr lang="en-US" sz="1900" dirty="0"/>
          </a:p>
        </p:txBody>
      </p:sp>
      <p:sp>
        <p:nvSpPr>
          <p:cNvPr id="9" name="Text 7"/>
          <p:cNvSpPr txBox="1"/>
          <p:nvPr/>
        </p:nvSpPr>
        <p:spPr>
          <a:xfrm>
            <a:off x="6492240" y="2423160"/>
            <a:ext cx="4846320" cy="822960"/>
          </a:xfrm>
          <a:prstGeom prst="rect">
            <a:avLst/>
          </a:prstGeom>
          <a:noFill/>
          <a:ln/>
        </p:spPr>
        <p:txBody>
          <a:bodyPr wrap="square" lIns="0" tIns="0" rIns="0" bIns="0" rtlCol="0" anchor="ctr"/>
          <a:lstStyle/>
          <a:p>
            <a:pPr indent="0" marL="0">
              <a:buNone/>
            </a:pPr>
            <a:r>
              <a:rPr lang="en-US" sz="1300" dirty="0">
                <a:solidFill>
                  <a:srgbClr val="241B13"/>
                </a:solidFill>
                <a:latin typeface="Calibri" pitchFamily="34" charset="0"/>
                <a:ea typeface="Calibri" pitchFamily="34" charset="-122"/>
                <a:cs typeface="Calibri" pitchFamily="34" charset="-120"/>
              </a:rPr>
              <a:t>Middleware CheckRole sur routes admin + Policies (403 si rôle insuffisant)</a:t>
            </a:r>
            <a:endParaRPr lang="en-US" sz="1300" dirty="0"/>
          </a:p>
        </p:txBody>
      </p:sp>
      <p:sp>
        <p:nvSpPr>
          <p:cNvPr id="10" name="Shape 8"/>
          <p:cNvSpPr/>
          <p:nvPr/>
        </p:nvSpPr>
        <p:spPr>
          <a:xfrm>
            <a:off x="640080" y="3657600"/>
            <a:ext cx="5303520" cy="1737360"/>
          </a:xfrm>
          <a:prstGeom prst="roundRect">
            <a:avLst>
              <a:gd name="adj" fmla="val 4211"/>
            </a:avLst>
          </a:prstGeom>
          <a:solidFill>
            <a:srgbClr val="F5ECDD"/>
          </a:solidFill>
          <a:ln/>
        </p:spPr>
      </p:sp>
      <p:sp>
        <p:nvSpPr>
          <p:cNvPr id="11" name="Text 9"/>
          <p:cNvSpPr txBox="1"/>
          <p:nvPr/>
        </p:nvSpPr>
        <p:spPr>
          <a:xfrm>
            <a:off x="914400" y="3886200"/>
            <a:ext cx="4754880" cy="457200"/>
          </a:xfrm>
          <a:prstGeom prst="rect">
            <a:avLst/>
          </a:prstGeom>
          <a:noFill/>
          <a:ln/>
        </p:spPr>
        <p:txBody>
          <a:bodyPr wrap="square" lIns="0" tIns="0" rIns="0" bIns="0"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Données</a:t>
            </a:r>
            <a:endParaRPr lang="en-US" sz="1900" dirty="0"/>
          </a:p>
        </p:txBody>
      </p:sp>
      <p:sp>
        <p:nvSpPr>
          <p:cNvPr id="12" name="Text 10"/>
          <p:cNvSpPr txBox="1"/>
          <p:nvPr/>
        </p:nvSpPr>
        <p:spPr>
          <a:xfrm>
            <a:off x="914400" y="4434840"/>
            <a:ext cx="4846320" cy="822960"/>
          </a:xfrm>
          <a:prstGeom prst="rect">
            <a:avLst/>
          </a:prstGeom>
          <a:noFill/>
          <a:ln/>
        </p:spPr>
        <p:txBody>
          <a:bodyPr wrap="square" lIns="0" tIns="0" rIns="0" bIns="0" rtlCol="0" anchor="ctr"/>
          <a:lstStyle/>
          <a:p>
            <a:pPr indent="0" marL="0">
              <a:buNone/>
            </a:pPr>
            <a:r>
              <a:rPr lang="en-US" sz="1300" dirty="0">
                <a:solidFill>
                  <a:srgbClr val="241B13"/>
                </a:solidFill>
                <a:latin typeface="Calibri" pitchFamily="34" charset="0"/>
                <a:ea typeface="Calibri" pitchFamily="34" charset="-122"/>
                <a:cs typeface="Calibri" pitchFamily="34" charset="-120"/>
              </a:rPr>
              <a:t>Validation serveur (FormRequests) · Eloquent contre injections SQL</a:t>
            </a:r>
            <a:endParaRPr lang="en-US" sz="1300" dirty="0"/>
          </a:p>
        </p:txBody>
      </p:sp>
      <p:sp>
        <p:nvSpPr>
          <p:cNvPr id="13" name="Shape 11"/>
          <p:cNvSpPr/>
          <p:nvPr/>
        </p:nvSpPr>
        <p:spPr>
          <a:xfrm>
            <a:off x="6217920" y="3657600"/>
            <a:ext cx="5303520" cy="1737360"/>
          </a:xfrm>
          <a:prstGeom prst="roundRect">
            <a:avLst>
              <a:gd name="adj" fmla="val 4211"/>
            </a:avLst>
          </a:prstGeom>
          <a:solidFill>
            <a:srgbClr val="F5ECDD"/>
          </a:solidFill>
          <a:ln/>
        </p:spPr>
      </p:sp>
      <p:sp>
        <p:nvSpPr>
          <p:cNvPr id="14" name="Text 12"/>
          <p:cNvSpPr txBox="1"/>
          <p:nvPr/>
        </p:nvSpPr>
        <p:spPr>
          <a:xfrm>
            <a:off x="6492240" y="3886200"/>
            <a:ext cx="4754880" cy="457200"/>
          </a:xfrm>
          <a:prstGeom prst="rect">
            <a:avLst/>
          </a:prstGeom>
          <a:noFill/>
          <a:ln/>
        </p:spPr>
        <p:txBody>
          <a:bodyPr wrap="square" lIns="0" tIns="0" rIns="0" bIns="0"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Transport</a:t>
            </a:r>
            <a:endParaRPr lang="en-US" sz="1900" dirty="0"/>
          </a:p>
        </p:txBody>
      </p:sp>
      <p:sp>
        <p:nvSpPr>
          <p:cNvPr id="15" name="Text 13"/>
          <p:cNvSpPr txBox="1"/>
          <p:nvPr/>
        </p:nvSpPr>
        <p:spPr>
          <a:xfrm>
            <a:off x="6492240" y="4434840"/>
            <a:ext cx="4846320" cy="822960"/>
          </a:xfrm>
          <a:prstGeom prst="rect">
            <a:avLst/>
          </a:prstGeom>
          <a:noFill/>
          <a:ln/>
        </p:spPr>
        <p:txBody>
          <a:bodyPr wrap="square" lIns="0" tIns="0" rIns="0" bIns="0" rtlCol="0" anchor="ctr"/>
          <a:lstStyle/>
          <a:p>
            <a:pPr indent="0" marL="0">
              <a:buNone/>
            </a:pPr>
            <a:r>
              <a:rPr lang="en-US" sz="1300" dirty="0">
                <a:solidFill>
                  <a:srgbClr val="241B13"/>
                </a:solidFill>
                <a:latin typeface="Calibri" pitchFamily="34" charset="0"/>
                <a:ea typeface="Calibri" pitchFamily="34" charset="-122"/>
                <a:cs typeface="Calibri" pitchFamily="34" charset="-120"/>
              </a:rPr>
              <a:t>HTTPS · headers de sécurité · rate limiting anti-brute-force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Conformité RGPD</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822960" y="164592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5" name="Text 3"/>
          <p:cNvSpPr txBox="1"/>
          <p:nvPr/>
        </p:nvSpPr>
        <p:spPr>
          <a:xfrm>
            <a:off x="1645920" y="1627632"/>
            <a:ext cx="2926080" cy="640080"/>
          </a:xfrm>
          <a:prstGeom prst="rect">
            <a:avLst/>
          </a:prstGeom>
          <a:noFill/>
          <a:ln/>
        </p:spPr>
        <p:txBody>
          <a:bodyPr wrap="square" lIns="0" tIns="0" rIns="0" bIns="0" rtlCol="0" anchor="ctr"/>
          <a:lstStyle/>
          <a:p>
            <a:pPr indent="0" marL="0">
              <a:buNone/>
            </a:pPr>
            <a:r>
              <a:rPr lang="en-US" sz="1700" b="1" dirty="0">
                <a:solidFill>
                  <a:srgbClr val="241B13"/>
                </a:solidFill>
                <a:latin typeface="Calibri" pitchFamily="34" charset="0"/>
                <a:ea typeface="Calibri" pitchFamily="34" charset="-122"/>
                <a:cs typeface="Calibri" pitchFamily="34" charset="-120"/>
              </a:rPr>
              <a:t>Consentement</a:t>
            </a:r>
            <a:endParaRPr lang="en-US" sz="1700" dirty="0"/>
          </a:p>
        </p:txBody>
      </p:sp>
      <p:sp>
        <p:nvSpPr>
          <p:cNvPr id="6" name="Text 4"/>
          <p:cNvSpPr txBox="1"/>
          <p:nvPr/>
        </p:nvSpPr>
        <p:spPr>
          <a:xfrm>
            <a:off x="4754880" y="1627632"/>
            <a:ext cx="6583680" cy="640080"/>
          </a:xfrm>
          <a:prstGeom prst="rect">
            <a:avLst/>
          </a:prstGeom>
          <a:noFill/>
          <a:ln/>
        </p:spPr>
        <p:txBody>
          <a:bodyPr wrap="square" lIns="0" tIns="0" rIns="0" bIns="0" rtlCol="0" anchor="ctr"/>
          <a:lstStyle/>
          <a:p>
            <a:pPr indent="0" marL="0">
              <a:buNone/>
            </a:pPr>
            <a:r>
              <a:rPr lang="en-US" sz="1400" dirty="0">
                <a:solidFill>
                  <a:srgbClr val="6B5D4A"/>
                </a:solidFill>
                <a:latin typeface="Calibri" pitchFamily="34" charset="0"/>
                <a:ea typeface="Calibri" pitchFamily="34" charset="-122"/>
                <a:cs typeface="Calibri" pitchFamily="34" charset="-120"/>
              </a:rPr>
              <a:t>Explicite et daté à l'inscription</a:t>
            </a:r>
            <a:endParaRPr lang="en-US" sz="1400" dirty="0"/>
          </a:p>
        </p:txBody>
      </p:sp>
      <p:sp>
        <p:nvSpPr>
          <p:cNvPr id="7" name="Text 5"/>
          <p:cNvSpPr txBox="1"/>
          <p:nvPr/>
        </p:nvSpPr>
        <p:spPr>
          <a:xfrm>
            <a:off x="822960" y="269748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8" name="Text 6"/>
          <p:cNvSpPr txBox="1"/>
          <p:nvPr/>
        </p:nvSpPr>
        <p:spPr>
          <a:xfrm>
            <a:off x="1645920" y="2679192"/>
            <a:ext cx="2926080" cy="640080"/>
          </a:xfrm>
          <a:prstGeom prst="rect">
            <a:avLst/>
          </a:prstGeom>
          <a:noFill/>
          <a:ln/>
        </p:spPr>
        <p:txBody>
          <a:bodyPr wrap="square" lIns="0" tIns="0" rIns="0" bIns="0" rtlCol="0" anchor="ctr"/>
          <a:lstStyle/>
          <a:p>
            <a:pPr indent="0" marL="0">
              <a:buNone/>
            </a:pPr>
            <a:r>
              <a:rPr lang="en-US" sz="1700" b="1" dirty="0">
                <a:solidFill>
                  <a:srgbClr val="241B13"/>
                </a:solidFill>
                <a:latin typeface="Calibri" pitchFamily="34" charset="0"/>
                <a:ea typeface="Calibri" pitchFamily="34" charset="-122"/>
                <a:cs typeface="Calibri" pitchFamily="34" charset="-120"/>
              </a:rPr>
              <a:t>Portabilité</a:t>
            </a:r>
            <a:endParaRPr lang="en-US" sz="1700" dirty="0"/>
          </a:p>
        </p:txBody>
      </p:sp>
      <p:sp>
        <p:nvSpPr>
          <p:cNvPr id="9" name="Text 7"/>
          <p:cNvSpPr txBox="1"/>
          <p:nvPr/>
        </p:nvSpPr>
        <p:spPr>
          <a:xfrm>
            <a:off x="4754880" y="2679192"/>
            <a:ext cx="6583680" cy="640080"/>
          </a:xfrm>
          <a:prstGeom prst="rect">
            <a:avLst/>
          </a:prstGeom>
          <a:noFill/>
          <a:ln/>
        </p:spPr>
        <p:txBody>
          <a:bodyPr wrap="square" lIns="0" tIns="0" rIns="0" bIns="0" rtlCol="0" anchor="ctr"/>
          <a:lstStyle/>
          <a:p>
            <a:pPr indent="0" marL="0">
              <a:buNone/>
            </a:pPr>
            <a:r>
              <a:rPr lang="en-US" sz="1400" dirty="0">
                <a:solidFill>
                  <a:srgbClr val="6B5D4A"/>
                </a:solidFill>
                <a:latin typeface="Calibri" pitchFamily="34" charset="0"/>
                <a:ea typeface="Calibri" pitchFamily="34" charset="-122"/>
                <a:cs typeface="Calibri" pitchFamily="34" charset="-120"/>
              </a:rPr>
              <a:t>Export de toutes ses données en JSON</a:t>
            </a:r>
            <a:endParaRPr lang="en-US" sz="1400" dirty="0"/>
          </a:p>
        </p:txBody>
      </p:sp>
      <p:sp>
        <p:nvSpPr>
          <p:cNvPr id="10" name="Text 8"/>
          <p:cNvSpPr txBox="1"/>
          <p:nvPr/>
        </p:nvSpPr>
        <p:spPr>
          <a:xfrm>
            <a:off x="822960" y="374904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1" name="Text 9"/>
          <p:cNvSpPr txBox="1"/>
          <p:nvPr/>
        </p:nvSpPr>
        <p:spPr>
          <a:xfrm>
            <a:off x="1645920" y="3730752"/>
            <a:ext cx="2926080" cy="640080"/>
          </a:xfrm>
          <a:prstGeom prst="rect">
            <a:avLst/>
          </a:prstGeom>
          <a:noFill/>
          <a:ln/>
        </p:spPr>
        <p:txBody>
          <a:bodyPr wrap="square" lIns="0" tIns="0" rIns="0" bIns="0" rtlCol="0" anchor="ctr"/>
          <a:lstStyle/>
          <a:p>
            <a:pPr indent="0" marL="0">
              <a:buNone/>
            </a:pPr>
            <a:r>
              <a:rPr lang="en-US" sz="1700" b="1" dirty="0">
                <a:solidFill>
                  <a:srgbClr val="241B13"/>
                </a:solidFill>
                <a:latin typeface="Calibri" pitchFamily="34" charset="0"/>
                <a:ea typeface="Calibri" pitchFamily="34" charset="-122"/>
                <a:cs typeface="Calibri" pitchFamily="34" charset="-120"/>
              </a:rPr>
              <a:t>Rectification</a:t>
            </a:r>
            <a:endParaRPr lang="en-US" sz="1700" dirty="0"/>
          </a:p>
        </p:txBody>
      </p:sp>
      <p:sp>
        <p:nvSpPr>
          <p:cNvPr id="12" name="Text 10"/>
          <p:cNvSpPr txBox="1"/>
          <p:nvPr/>
        </p:nvSpPr>
        <p:spPr>
          <a:xfrm>
            <a:off x="4754880" y="3730752"/>
            <a:ext cx="6583680" cy="640080"/>
          </a:xfrm>
          <a:prstGeom prst="rect">
            <a:avLst/>
          </a:prstGeom>
          <a:noFill/>
          <a:ln/>
        </p:spPr>
        <p:txBody>
          <a:bodyPr wrap="square" lIns="0" tIns="0" rIns="0" bIns="0" rtlCol="0" anchor="ctr"/>
          <a:lstStyle/>
          <a:p>
            <a:pPr indent="0" marL="0">
              <a:buNone/>
            </a:pPr>
            <a:r>
              <a:rPr lang="en-US" sz="1400" dirty="0">
                <a:solidFill>
                  <a:srgbClr val="6B5D4A"/>
                </a:solidFill>
                <a:latin typeface="Calibri" pitchFamily="34" charset="0"/>
                <a:ea typeface="Calibri" pitchFamily="34" charset="-122"/>
                <a:cs typeface="Calibri" pitchFamily="34" charset="-120"/>
              </a:rPr>
              <a:t>Sur simple demande (droit rappelé dans « Mes données »)</a:t>
            </a:r>
            <a:endParaRPr lang="en-US" sz="1400" dirty="0"/>
          </a:p>
        </p:txBody>
      </p:sp>
      <p:sp>
        <p:nvSpPr>
          <p:cNvPr id="13" name="Text 11"/>
          <p:cNvSpPr txBox="1"/>
          <p:nvPr/>
        </p:nvSpPr>
        <p:spPr>
          <a:xfrm>
            <a:off x="822960" y="4800600"/>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4" name="Text 12"/>
          <p:cNvSpPr txBox="1"/>
          <p:nvPr/>
        </p:nvSpPr>
        <p:spPr>
          <a:xfrm>
            <a:off x="1645920" y="4782312"/>
            <a:ext cx="2926080" cy="640080"/>
          </a:xfrm>
          <a:prstGeom prst="rect">
            <a:avLst/>
          </a:prstGeom>
          <a:noFill/>
          <a:ln/>
        </p:spPr>
        <p:txBody>
          <a:bodyPr wrap="square" lIns="0" tIns="0" rIns="0" bIns="0" rtlCol="0" anchor="ctr"/>
          <a:lstStyle/>
          <a:p>
            <a:pPr indent="0" marL="0">
              <a:buNone/>
            </a:pPr>
            <a:r>
              <a:rPr lang="en-US" sz="1700" b="1" dirty="0">
                <a:solidFill>
                  <a:srgbClr val="241B13"/>
                </a:solidFill>
                <a:latin typeface="Calibri" pitchFamily="34" charset="0"/>
                <a:ea typeface="Calibri" pitchFamily="34" charset="-122"/>
                <a:cs typeface="Calibri" pitchFamily="34" charset="-120"/>
              </a:rPr>
              <a:t>Droit à l'oubli</a:t>
            </a:r>
            <a:endParaRPr lang="en-US" sz="1700" dirty="0"/>
          </a:p>
        </p:txBody>
      </p:sp>
      <p:sp>
        <p:nvSpPr>
          <p:cNvPr id="15" name="Text 13"/>
          <p:cNvSpPr txBox="1"/>
          <p:nvPr/>
        </p:nvSpPr>
        <p:spPr>
          <a:xfrm>
            <a:off x="4754880" y="4782312"/>
            <a:ext cx="6583680" cy="640080"/>
          </a:xfrm>
          <a:prstGeom prst="rect">
            <a:avLst/>
          </a:prstGeom>
          <a:noFill/>
          <a:ln/>
        </p:spPr>
        <p:txBody>
          <a:bodyPr wrap="square" lIns="0" tIns="0" rIns="0" bIns="0" rtlCol="0" anchor="ctr"/>
          <a:lstStyle/>
          <a:p>
            <a:pPr indent="0" marL="0">
              <a:buNone/>
            </a:pPr>
            <a:r>
              <a:rPr lang="en-US" sz="1400" dirty="0">
                <a:solidFill>
                  <a:srgbClr val="6B5D4A"/>
                </a:solidFill>
                <a:latin typeface="Calibri" pitchFamily="34" charset="0"/>
                <a:ea typeface="Calibri" pitchFamily="34" charset="-122"/>
                <a:cs typeface="Calibri" pitchFamily="34" charset="-120"/>
              </a:rPr>
              <a:t>Suppression du compte en cascade (double confirmation)</a:t>
            </a:r>
            <a:endParaRPr lang="en-US" sz="1400" dirty="0"/>
          </a:p>
        </p:txBody>
      </p:sp>
      <p:sp>
        <p:nvSpPr>
          <p:cNvPr id="16" name="Text 14"/>
          <p:cNvSpPr txBox="1"/>
          <p:nvPr/>
        </p:nvSpPr>
        <p:spPr>
          <a:xfrm>
            <a:off x="822960" y="5852160"/>
            <a:ext cx="10515600" cy="457200"/>
          </a:xfrm>
          <a:prstGeom prst="rect">
            <a:avLst/>
          </a:prstGeom>
          <a:noFill/>
          <a:ln/>
        </p:spPr>
        <p:txBody>
          <a:bodyPr wrap="square" rtlCol="0" anchor="ctr"/>
          <a:lstStyle/>
          <a:p>
            <a:pPr indent="0" marL="0">
              <a:buNone/>
            </a:pPr>
            <a:r>
              <a:rPr lang="en-US" sz="1300" i="1" dirty="0">
                <a:solidFill>
                  <a:srgbClr val="B1492A"/>
                </a:solidFill>
                <a:latin typeface="Calibri" pitchFamily="34" charset="0"/>
                <a:ea typeface="Calibri" pitchFamily="34" charset="-122"/>
                <a:cs typeface="Calibri" pitchFamily="34" charset="-120"/>
              </a:rPr>
              <a:t>Le mot de passe (haché) est exclu de l'export — sécurité et conformité.</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1B13"/>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ctr"/>
          <a:lstStyle/>
          <a:p>
            <a:pPr indent="0" marL="0">
              <a:buNone/>
            </a:pPr>
            <a:r>
              <a:rPr lang="en-US" sz="3200" b="1" dirty="0">
                <a:solidFill>
                  <a:srgbClr val="F5ECDD"/>
                </a:solidFill>
                <a:latin typeface="Cambria" pitchFamily="34" charset="0"/>
                <a:ea typeface="Cambria" pitchFamily="34" charset="-122"/>
                <a:cs typeface="Cambria" pitchFamily="34" charset="-120"/>
              </a:rPr>
              <a:t>Tests automatisés</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E3D5BF"/>
                </a:solidFill>
                <a:latin typeface="Calibri" pitchFamily="34" charset="0"/>
                <a:ea typeface="Calibri" pitchFamily="34" charset="-122"/>
                <a:cs typeface="Calibri" pitchFamily="34" charset="-120"/>
              </a:rPr>
              <a:t>7</a:t>
            </a:r>
            <a:endParaRPr lang="en-US" sz="1200" dirty="0"/>
          </a:p>
        </p:txBody>
      </p:sp>
      <p:sp>
        <p:nvSpPr>
          <p:cNvPr id="4" name="Text 2"/>
          <p:cNvSpPr txBox="1"/>
          <p:nvPr/>
        </p:nvSpPr>
        <p:spPr>
          <a:xfrm>
            <a:off x="731520" y="1737360"/>
            <a:ext cx="2743200" cy="1463040"/>
          </a:xfrm>
          <a:prstGeom prst="rect">
            <a:avLst/>
          </a:prstGeom>
          <a:noFill/>
          <a:ln/>
        </p:spPr>
        <p:txBody>
          <a:bodyPr wrap="square" rtlCol="0" anchor="ctr"/>
          <a:lstStyle/>
          <a:p>
            <a:pPr algn="ctr" indent="0" marL="0">
              <a:buNone/>
            </a:pPr>
            <a:r>
              <a:rPr lang="en-US" sz="9600" b="1" dirty="0">
                <a:solidFill>
                  <a:srgbClr val="B1492A"/>
                </a:solidFill>
                <a:latin typeface="Cambria" pitchFamily="34" charset="0"/>
                <a:ea typeface="Cambria" pitchFamily="34" charset="-122"/>
                <a:cs typeface="Cambria" pitchFamily="34" charset="-120"/>
              </a:rPr>
              <a:t>18</a:t>
            </a:r>
            <a:endParaRPr lang="en-US" sz="9600" dirty="0"/>
          </a:p>
        </p:txBody>
      </p:sp>
      <p:sp>
        <p:nvSpPr>
          <p:cNvPr id="5" name="Text 3"/>
          <p:cNvSpPr txBox="1"/>
          <p:nvPr/>
        </p:nvSpPr>
        <p:spPr>
          <a:xfrm>
            <a:off x="731520" y="3200400"/>
            <a:ext cx="2743200" cy="822960"/>
          </a:xfrm>
          <a:prstGeom prst="rect">
            <a:avLst/>
          </a:prstGeom>
          <a:noFill/>
          <a:ln/>
        </p:spPr>
        <p:txBody>
          <a:bodyPr wrap="square" rtlCol="0" anchor="ctr"/>
          <a:lstStyle/>
          <a:p>
            <a:pPr algn="ctr" indent="0" marL="0">
              <a:buNone/>
            </a:pPr>
            <a:r>
              <a:rPr lang="en-US" sz="1600" dirty="0">
                <a:solidFill>
                  <a:srgbClr val="F5ECDD"/>
                </a:solidFill>
                <a:latin typeface="Calibri" pitchFamily="34" charset="0"/>
                <a:ea typeface="Calibri" pitchFamily="34" charset="-122"/>
                <a:cs typeface="Calibri" pitchFamily="34" charset="-120"/>
              </a:rPr>
              <a:t>tests passés</a:t>
            </a:r>
            <a:endParaRPr lang="en-US" sz="1600" dirty="0"/>
          </a:p>
          <a:p>
            <a:pPr algn="ctr" indent="0" marL="0">
              <a:buNone/>
            </a:pPr>
            <a:r>
              <a:rPr lang="en-US" sz="1600" dirty="0">
                <a:solidFill>
                  <a:srgbClr val="F5ECDD"/>
                </a:solidFill>
                <a:latin typeface="Calibri" pitchFamily="34" charset="0"/>
                <a:ea typeface="Calibri" pitchFamily="34" charset="-122"/>
                <a:cs typeface="Calibri" pitchFamily="34" charset="-120"/>
              </a:rPr>
              <a:t>(64 assertions)</a:t>
            </a:r>
            <a:endParaRPr lang="en-US" sz="1600" dirty="0"/>
          </a:p>
        </p:txBody>
      </p:sp>
      <p:sp>
        <p:nvSpPr>
          <p:cNvPr id="6" name="Text 4"/>
          <p:cNvSpPr txBox="1"/>
          <p:nvPr/>
        </p:nvSpPr>
        <p:spPr>
          <a:xfrm>
            <a:off x="731520" y="4114800"/>
            <a:ext cx="2743200" cy="914400"/>
          </a:xfrm>
          <a:prstGeom prst="rect">
            <a:avLst/>
          </a:prstGeom>
          <a:noFill/>
          <a:ln/>
        </p:spPr>
        <p:txBody>
          <a:bodyPr wrap="square" rtlCol="0" anchor="ctr"/>
          <a:lstStyle/>
          <a:p>
            <a:pPr algn="ctr" indent="0" marL="0">
              <a:buNone/>
            </a:pPr>
            <a:r>
              <a:rPr lang="en-US" sz="1200" dirty="0">
                <a:solidFill>
                  <a:srgbClr val="E3D5BF"/>
                </a:solidFill>
                <a:latin typeface="Calibri" pitchFamily="34" charset="0"/>
                <a:ea typeface="Calibri" pitchFamily="34" charset="-122"/>
                <a:cs typeface="Calibri" pitchFamily="34" charset="-120"/>
              </a:rPr>
              <a:t>PHPUnit · base SQLite en mémoire · authentification, menus, RGPD</a:t>
            </a:r>
            <a:endParaRPr lang="en-US" sz="1200" dirty="0"/>
          </a:p>
        </p:txBody>
      </p:sp>
      <p:sp>
        <p:nvSpPr>
          <p:cNvPr id="7" name="Shape 5"/>
          <p:cNvSpPr/>
          <p:nvPr/>
        </p:nvSpPr>
        <p:spPr>
          <a:xfrm>
            <a:off x="3931920" y="1737360"/>
            <a:ext cx="7589520" cy="3566160"/>
          </a:xfrm>
          <a:prstGeom prst="roundRect">
            <a:avLst>
              <a:gd name="adj" fmla="val 2564"/>
            </a:avLst>
          </a:prstGeom>
          <a:solidFill>
            <a:srgbClr val="F5ECDD"/>
          </a:solidFill>
          <a:ln/>
        </p:spPr>
      </p:sp>
      <p:sp>
        <p:nvSpPr>
          <p:cNvPr id="8" name="Text 6"/>
          <p:cNvSpPr txBox="1"/>
          <p:nvPr/>
        </p:nvSpPr>
        <p:spPr>
          <a:xfrm>
            <a:off x="4206240" y="2011680"/>
            <a:ext cx="7132320" cy="548640"/>
          </a:xfrm>
          <a:prstGeom prst="rect">
            <a:avLst/>
          </a:prstGeom>
          <a:noFill/>
          <a:ln/>
        </p:spPr>
        <p:txBody>
          <a:bodyPr wrap="square"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 Un test a révélé une faille de sécurité</a:t>
            </a:r>
            <a:endParaRPr lang="en-US" sz="1900" dirty="0"/>
          </a:p>
        </p:txBody>
      </p:sp>
      <p:sp>
        <p:nvSpPr>
          <p:cNvPr id="9" name="Text 7"/>
          <p:cNvSpPr txBox="1"/>
          <p:nvPr/>
        </p:nvSpPr>
        <p:spPr>
          <a:xfrm>
            <a:off x="4206240" y="2651760"/>
            <a:ext cx="7132320" cy="1188720"/>
          </a:xfrm>
          <a:prstGeom prst="rect">
            <a:avLst/>
          </a:prstGeom>
          <a:noFill/>
          <a:ln/>
        </p:spPr>
        <p:txBody>
          <a:bodyPr wrap="square" rtlCol="0" anchor="ctr"/>
          <a:lstStyle/>
          <a:p>
            <a:pPr indent="0" marL="0">
              <a:lnSpc>
                <a:spcPct val="120000"/>
              </a:lnSpc>
              <a:buNone/>
            </a:pPr>
            <a:r>
              <a:rPr lang="en-US" sz="1500" dirty="0">
                <a:solidFill>
                  <a:srgbClr val="241B13"/>
                </a:solidFill>
                <a:latin typeface="Calibri" pitchFamily="34" charset="0"/>
                <a:ea typeface="Calibri" pitchFamily="34" charset="-122"/>
                <a:cs typeface="Calibri" pitchFamily="34" charset="-120"/>
              </a:rPr>
              <a:t>Les routes d'administration exigeaient l'authentification, mais pas le bon </a:t>
            </a:r>
            <a:pPr indent="0" marL="0">
              <a:lnSpc>
                <a:spcPct val="120000"/>
              </a:lnSpc>
              <a:buNone/>
            </a:pPr>
            <a:r>
              <a:rPr lang="en-US" sz="1500" b="1" dirty="0">
                <a:solidFill>
                  <a:srgbClr val="241B13"/>
                </a:solidFill>
                <a:latin typeface="Calibri" pitchFamily="34" charset="0"/>
                <a:ea typeface="Calibri" pitchFamily="34" charset="-122"/>
                <a:cs typeface="Calibri" pitchFamily="34" charset="-120"/>
              </a:rPr>
              <a:t>rôle</a:t>
            </a:r>
            <a:pPr indent="0" marL="0">
              <a:lnSpc>
                <a:spcPct val="120000"/>
              </a:lnSpc>
              <a:buNone/>
            </a:pPr>
            <a:r>
              <a:rPr lang="en-US" sz="1500" dirty="0">
                <a:solidFill>
                  <a:srgbClr val="241B13"/>
                </a:solidFill>
                <a:latin typeface="Calibri" pitchFamily="34" charset="0"/>
                <a:ea typeface="Calibri" pitchFamily="34" charset="-122"/>
                <a:cs typeface="Calibri" pitchFamily="34" charset="-120"/>
              </a:rPr>
              <a:t>. Un utilisateur simple pouvait créer un menu — code </a:t>
            </a:r>
            <a:pPr indent="0" marL="0">
              <a:lnSpc>
                <a:spcPct val="120000"/>
              </a:lnSpc>
              <a:buNone/>
            </a:pPr>
            <a:r>
              <a:rPr lang="en-US" sz="1500" b="1" dirty="0">
                <a:solidFill>
                  <a:srgbClr val="B1492A"/>
                </a:solidFill>
                <a:latin typeface="Calibri" pitchFamily="34" charset="0"/>
                <a:ea typeface="Calibri" pitchFamily="34" charset="-122"/>
                <a:cs typeface="Calibri" pitchFamily="34" charset="-120"/>
              </a:rPr>
              <a:t>201</a:t>
            </a:r>
            <a:pPr indent="0" marL="0">
              <a:lnSpc>
                <a:spcPct val="120000"/>
              </a:lnSpc>
              <a:buNone/>
            </a:pPr>
            <a:r>
              <a:rPr lang="en-US" sz="1500" dirty="0">
                <a:solidFill>
                  <a:srgbClr val="241B13"/>
                </a:solidFill>
                <a:latin typeface="Calibri" pitchFamily="34" charset="0"/>
                <a:ea typeface="Calibri" pitchFamily="34" charset="-122"/>
                <a:cs typeface="Calibri" pitchFamily="34" charset="-120"/>
              </a:rPr>
              <a:t> (créé) au lieu de </a:t>
            </a:r>
            <a:pPr indent="0" marL="0">
              <a:lnSpc>
                <a:spcPct val="120000"/>
              </a:lnSpc>
              <a:buNone/>
            </a:pPr>
            <a:r>
              <a:rPr lang="en-US" sz="1500" b="1" dirty="0">
                <a:solidFill>
                  <a:srgbClr val="B1492A"/>
                </a:solidFill>
                <a:latin typeface="Calibri" pitchFamily="34" charset="0"/>
                <a:ea typeface="Calibri" pitchFamily="34" charset="-122"/>
                <a:cs typeface="Calibri" pitchFamily="34" charset="-120"/>
              </a:rPr>
              <a:t>403</a:t>
            </a:r>
            <a:pPr indent="0" marL="0">
              <a:lnSpc>
                <a:spcPct val="120000"/>
              </a:lnSpc>
              <a:buNone/>
            </a:pPr>
            <a:r>
              <a:rPr lang="en-US" sz="1500" dirty="0">
                <a:solidFill>
                  <a:srgbClr val="241B13"/>
                </a:solidFill>
                <a:latin typeface="Calibri" pitchFamily="34" charset="0"/>
                <a:ea typeface="Calibri" pitchFamily="34" charset="-122"/>
                <a:cs typeface="Calibri" pitchFamily="34" charset="-120"/>
              </a:rPr>
              <a:t> (interdit).</a:t>
            </a:r>
            <a:endParaRPr lang="en-US" sz="1500" dirty="0"/>
          </a:p>
        </p:txBody>
      </p:sp>
      <p:sp>
        <p:nvSpPr>
          <p:cNvPr id="10" name="Text 8"/>
          <p:cNvSpPr txBox="1"/>
          <p:nvPr/>
        </p:nvSpPr>
        <p:spPr>
          <a:xfrm>
            <a:off x="4206240" y="3931920"/>
            <a:ext cx="7132320" cy="1097280"/>
          </a:xfrm>
          <a:prstGeom prst="rect">
            <a:avLst/>
          </a:prstGeom>
          <a:noFill/>
          <a:ln/>
        </p:spPr>
        <p:txBody>
          <a:bodyPr wrap="square" rtlCol="0" anchor="ctr"/>
          <a:lstStyle/>
          <a:p>
            <a:pPr indent="0" marL="0">
              <a:lnSpc>
                <a:spcPct val="120000"/>
              </a:lnSpc>
              <a:buNone/>
            </a:pPr>
            <a:r>
              <a:rPr lang="en-US" sz="1500" b="1" dirty="0">
                <a:solidFill>
                  <a:srgbClr val="241B13"/>
                </a:solidFill>
                <a:latin typeface="Calibri" pitchFamily="34" charset="0"/>
                <a:ea typeface="Calibri" pitchFamily="34" charset="-122"/>
                <a:cs typeface="Calibri" pitchFamily="34" charset="-120"/>
              </a:rPr>
              <a:t>Correction : </a:t>
            </a:r>
            <a:pPr indent="0" marL="0">
              <a:lnSpc>
                <a:spcPct val="120000"/>
              </a:lnSpc>
              <a:buNone/>
            </a:pPr>
            <a:r>
              <a:rPr lang="en-US" sz="1500" dirty="0">
                <a:solidFill>
                  <a:srgbClr val="241B13"/>
                </a:solidFill>
                <a:latin typeface="Calibri" pitchFamily="34" charset="0"/>
                <a:ea typeface="Calibri" pitchFamily="34" charset="-122"/>
                <a:cs typeface="Calibri" pitchFamily="34" charset="-120"/>
              </a:rPr>
              <a:t>middleware CheckRole. C'est un cas typique de </a:t>
            </a:r>
            <a:pPr indent="0" marL="0">
              <a:lnSpc>
                <a:spcPct val="120000"/>
              </a:lnSpc>
              <a:buNone/>
            </a:pPr>
            <a:r>
              <a:rPr lang="en-US" sz="1500" b="1" i="1" dirty="0">
                <a:solidFill>
                  <a:srgbClr val="241B13"/>
                </a:solidFill>
                <a:latin typeface="Calibri" pitchFamily="34" charset="0"/>
                <a:ea typeface="Calibri" pitchFamily="34" charset="-122"/>
                <a:cs typeface="Calibri" pitchFamily="34" charset="-120"/>
              </a:rPr>
              <a:t>broken access control</a:t>
            </a:r>
            <a:pPr indent="0" marL="0">
              <a:lnSpc>
                <a:spcPct val="120000"/>
              </a:lnSpc>
              <a:buNone/>
            </a:pPr>
            <a:r>
              <a:rPr lang="en-US" sz="1500" dirty="0">
                <a:solidFill>
                  <a:srgbClr val="241B13"/>
                </a:solidFill>
                <a:latin typeface="Calibri" pitchFamily="34" charset="0"/>
                <a:ea typeface="Calibri" pitchFamily="34" charset="-122"/>
                <a:cs typeface="Calibri" pitchFamily="34" charset="-120"/>
              </a:rPr>
              <a:t>, la faille n°1 du top 10 OWASP.</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Déploiement en production</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8</a:t>
            </a:r>
            <a:endParaRPr lang="en-US" sz="1200" dirty="0"/>
          </a:p>
        </p:txBody>
      </p:sp>
      <p:sp>
        <p:nvSpPr>
          <p:cNvPr id="4" name="Shape 2"/>
          <p:cNvSpPr/>
          <p:nvPr/>
        </p:nvSpPr>
        <p:spPr>
          <a:xfrm>
            <a:off x="640080" y="1645920"/>
            <a:ext cx="5303520" cy="1737360"/>
          </a:xfrm>
          <a:prstGeom prst="roundRect">
            <a:avLst>
              <a:gd name="adj" fmla="val 4211"/>
            </a:avLst>
          </a:prstGeom>
          <a:solidFill>
            <a:srgbClr val="F5ECDD"/>
          </a:solidFill>
          <a:ln/>
        </p:spPr>
        <p:txBody>
          <a:bodyPr/>
          <a:p/>
        </p:txBody>
      </p:sp>
      <p:sp>
        <p:nvSpPr>
          <p:cNvPr id="5" name="Text 3"/>
          <p:cNvSpPr txBox="1"/>
          <p:nvPr/>
        </p:nvSpPr>
        <p:spPr>
          <a:xfrm>
            <a:off x="914400" y="1874520"/>
            <a:ext cx="4754880" cy="457200"/>
          </a:xfrm>
          <a:prstGeom prst="rect">
            <a:avLst/>
          </a:prstGeom>
          <a:noFill/>
          <a:ln/>
        </p:spPr>
        <p:txBody>
          <a:bodyPr wrap="square" lIns="0" tIns="0" rIns="0" bIns="0"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Serveur</a:t>
            </a:r>
            <a:endParaRPr lang="en-US" sz="1900" dirty="0"/>
          </a:p>
        </p:txBody>
      </p:sp>
      <p:sp>
        <p:nvSpPr>
          <p:cNvPr id="6" name="Text 4"/>
          <p:cNvSpPr txBox="1"/>
          <p:nvPr/>
        </p:nvSpPr>
        <p:spPr>
          <a:xfrm>
            <a:off x="914400" y="2423160"/>
            <a:ext cx="4846320" cy="822960"/>
          </a:xfrm>
          <a:prstGeom prst="rect">
            <a:avLst/>
          </a:prstGeom>
          <a:noFill/>
          <a:ln/>
        </p:spPr>
        <p:txBody>
          <a:bodyPr wrap="square" lIns="0" tIns="0" rIns="0" bIns="0" rtlCol="0" anchor="ctr"/>
          <a:lstStyle/>
          <a:p>
            <a:pPr indent="0" marL="0">
              <a:buNone/>
            </a:pPr>
            <a:r>
              <a:rPr lang="en-US" sz="1300" dirty="0">
                <a:solidFill>
                  <a:srgbClr val="241B13"/>
                </a:solidFill>
                <a:latin typeface="Calibri" pitchFamily="34" charset="0"/>
                <a:ea typeface="Calibri" pitchFamily="34" charset="-122"/>
                <a:cs typeface="Calibri" pitchFamily="34" charset="-120"/>
              </a:rPr>
              <a:t>VPS OVH · Ubuntu 22.04 · Nginx (serveur web + proxy inverse)</a:t>
            </a:r>
            <a:endParaRPr lang="en-US" sz="1300" dirty="0"/>
          </a:p>
        </p:txBody>
      </p:sp>
      <p:sp>
        <p:nvSpPr>
          <p:cNvPr id="7" name="Shape 5"/>
          <p:cNvSpPr/>
          <p:nvPr/>
        </p:nvSpPr>
        <p:spPr>
          <a:xfrm>
            <a:off x="6217920" y="1645920"/>
            <a:ext cx="5303520" cy="1737360"/>
          </a:xfrm>
          <a:prstGeom prst="roundRect">
            <a:avLst>
              <a:gd name="adj" fmla="val 4211"/>
            </a:avLst>
          </a:prstGeom>
          <a:solidFill>
            <a:srgbClr val="F5ECDD"/>
          </a:solidFill>
          <a:ln/>
        </p:spPr>
        <p:txBody>
          <a:bodyPr/>
          <a:p/>
        </p:txBody>
      </p:sp>
      <p:sp>
        <p:nvSpPr>
          <p:cNvPr id="8" name="Text 6"/>
          <p:cNvSpPr txBox="1"/>
          <p:nvPr/>
        </p:nvSpPr>
        <p:spPr>
          <a:xfrm>
            <a:off x="6492240" y="1874520"/>
            <a:ext cx="4754880" cy="457200"/>
          </a:xfrm>
          <a:prstGeom prst="rect">
            <a:avLst/>
          </a:prstGeom>
          <a:noFill/>
          <a:ln/>
        </p:spPr>
        <p:txBody>
          <a:bodyPr wrap="square" lIns="0" tIns="0" rIns="0" bIns="0"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Application</a:t>
            </a:r>
            <a:endParaRPr lang="en-US" sz="1900" dirty="0"/>
          </a:p>
        </p:txBody>
      </p:sp>
      <p:sp>
        <p:nvSpPr>
          <p:cNvPr id="9" name="Text 7"/>
          <p:cNvSpPr txBox="1"/>
          <p:nvPr/>
        </p:nvSpPr>
        <p:spPr>
          <a:xfrm>
            <a:off x="6492240" y="2423160"/>
            <a:ext cx="4846320" cy="822960"/>
          </a:xfrm>
          <a:prstGeom prst="rect">
            <a:avLst/>
          </a:prstGeom>
          <a:noFill/>
          <a:ln/>
        </p:spPr>
        <p:txBody>
          <a:bodyPr wrap="square" lIns="0" tIns="0" rIns="0" bIns="0" rtlCol="0" anchor="ctr"/>
          <a:lstStyle/>
          <a:p>
            <a:pPr indent="0" marL="0">
              <a:buNone/>
            </a:pPr>
            <a:r>
              <a:rPr lang="en-US" sz="1300" dirty="0">
                <a:solidFill>
                  <a:srgbClr val="241B13"/>
                </a:solidFill>
                <a:latin typeface="Calibri" pitchFamily="34" charset="0"/>
                <a:ea typeface="Calibri" pitchFamily="34" charset="-122"/>
                <a:cs typeface="Calibri" pitchFamily="34" charset="-120"/>
              </a:rPr>
              <a:t>Laravel 10 via PHP 8.2-FPM · React compilé (npm run build) servi en statique</a:t>
            </a:r>
            <a:endParaRPr lang="en-US" sz="1300" dirty="0"/>
          </a:p>
        </p:txBody>
      </p:sp>
      <p:sp>
        <p:nvSpPr>
          <p:cNvPr id="10" name="Shape 8"/>
          <p:cNvSpPr/>
          <p:nvPr/>
        </p:nvSpPr>
        <p:spPr>
          <a:xfrm>
            <a:off x="640080" y="3657600"/>
            <a:ext cx="5303520" cy="1737360"/>
          </a:xfrm>
          <a:prstGeom prst="roundRect">
            <a:avLst>
              <a:gd name="adj" fmla="val 4211"/>
            </a:avLst>
          </a:prstGeom>
          <a:solidFill>
            <a:srgbClr val="F5ECDD"/>
          </a:solidFill>
          <a:ln/>
        </p:spPr>
        <p:txBody>
          <a:bodyPr/>
          <a:p/>
        </p:txBody>
      </p:sp>
      <p:sp>
        <p:nvSpPr>
          <p:cNvPr id="11" name="Text 9"/>
          <p:cNvSpPr txBox="1"/>
          <p:nvPr/>
        </p:nvSpPr>
        <p:spPr>
          <a:xfrm>
            <a:off x="914400" y="3886200"/>
            <a:ext cx="4754880" cy="457200"/>
          </a:xfrm>
          <a:prstGeom prst="rect">
            <a:avLst/>
          </a:prstGeom>
          <a:noFill/>
          <a:ln/>
        </p:spPr>
        <p:txBody>
          <a:bodyPr wrap="square" lIns="0" tIns="0" rIns="0" bIns="0"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Données</a:t>
            </a:r>
            <a:endParaRPr lang="en-US" sz="1900" dirty="0"/>
          </a:p>
        </p:txBody>
      </p:sp>
      <p:sp>
        <p:nvSpPr>
          <p:cNvPr id="12" name="Text 10"/>
          <p:cNvSpPr txBox="1"/>
          <p:nvPr/>
        </p:nvSpPr>
        <p:spPr>
          <a:xfrm>
            <a:off x="914400" y="4434840"/>
            <a:ext cx="4846320" cy="822960"/>
          </a:xfrm>
          <a:prstGeom prst="rect">
            <a:avLst/>
          </a:prstGeom>
          <a:noFill/>
          <a:ln/>
        </p:spPr>
        <p:txBody>
          <a:bodyPr wrap="square" lIns="0" tIns="0" rIns="0" bIns="0" rtlCol="0" anchor="ctr"/>
          <a:lstStyle/>
          <a:p>
            <a:pPr indent="0" marL="0">
              <a:buNone/>
            </a:pPr>
            <a:r>
              <a:rPr lang="en-US" sz="1300" dirty="0">
                <a:solidFill>
                  <a:srgbClr val="241B13"/>
                </a:solidFill>
                <a:latin typeface="Calibri" pitchFamily="34" charset="0"/>
                <a:ea typeface="Calibri" pitchFamily="34" charset="-122"/>
                <a:cs typeface="Calibri" pitchFamily="34" charset="-120"/>
              </a:rPr>
              <a:t>PostgreSQL 14 en local · MongoDB Atlas (statistiques) · secrets dans .env</a:t>
            </a:r>
            <a:endParaRPr lang="en-US" sz="1300" dirty="0"/>
          </a:p>
        </p:txBody>
      </p:sp>
      <p:sp>
        <p:nvSpPr>
          <p:cNvPr id="13" name="Shape 11"/>
          <p:cNvSpPr/>
          <p:nvPr/>
        </p:nvSpPr>
        <p:spPr>
          <a:xfrm>
            <a:off x="6217920" y="3657600"/>
            <a:ext cx="5303520" cy="1737360"/>
          </a:xfrm>
          <a:prstGeom prst="roundRect">
            <a:avLst>
              <a:gd name="adj" fmla="val 4211"/>
            </a:avLst>
          </a:prstGeom>
          <a:solidFill>
            <a:srgbClr val="F5ECDD"/>
          </a:solidFill>
          <a:ln/>
        </p:spPr>
        <p:txBody>
          <a:bodyPr/>
          <a:p/>
        </p:txBody>
      </p:sp>
      <p:sp>
        <p:nvSpPr>
          <p:cNvPr id="14" name="Text 12"/>
          <p:cNvSpPr txBox="1"/>
          <p:nvPr/>
        </p:nvSpPr>
        <p:spPr>
          <a:xfrm>
            <a:off x="6492240" y="3886200"/>
            <a:ext cx="4754880" cy="457200"/>
          </a:xfrm>
          <a:prstGeom prst="rect">
            <a:avLst/>
          </a:prstGeom>
          <a:noFill/>
          <a:ln/>
        </p:spPr>
        <p:txBody>
          <a:bodyPr wrap="square" lIns="0" tIns="0" rIns="0" bIns="0" rtlCol="0" anchor="ctr"/>
          <a:lstStyle/>
          <a:p>
            <a:pPr indent="0" marL="0">
              <a:buNone/>
            </a:pPr>
            <a:r>
              <a:rPr lang="en-US" sz="1900" b="1" dirty="0">
                <a:solidFill>
                  <a:srgbClr val="B1492A"/>
                </a:solidFill>
                <a:latin typeface="Cambria" pitchFamily="34" charset="0"/>
                <a:ea typeface="Cambria" pitchFamily="34" charset="-122"/>
                <a:cs typeface="Cambria" pitchFamily="34" charset="-120"/>
              </a:rPr>
              <a:t>Mise en ligne</a:t>
            </a:r>
            <a:endParaRPr lang="en-US" sz="1900" dirty="0"/>
          </a:p>
        </p:txBody>
      </p:sp>
      <p:sp>
        <p:nvSpPr>
          <p:cNvPr id="15" name="Text 13"/>
          <p:cNvSpPr txBox="1"/>
          <p:nvPr/>
        </p:nvSpPr>
        <p:spPr>
          <a:xfrm>
            <a:off x="6492240" y="4434840"/>
            <a:ext cx="4846320" cy="822960"/>
          </a:xfrm>
          <a:prstGeom prst="rect">
            <a:avLst/>
          </a:prstGeom>
          <a:noFill/>
          <a:ln/>
        </p:spPr>
        <p:txBody>
          <a:bodyPr wrap="square" lIns="0" tIns="0" rIns="0" bIns="0" rtlCol="0" anchor="ctr"/>
          <a:lstStyle/>
          <a:p>
            <a:pPr indent="0" marL="0">
              <a:buNone/>
            </a:pPr>
            <a:r>
              <a:rPr lang="en-US" sz="1300" dirty="0">
                <a:solidFill>
                  <a:srgbClr val="241B13"/>
                </a:solidFill>
                <a:latin typeface="Calibri" pitchFamily="34" charset="0"/>
                <a:ea typeface="Calibri" pitchFamily="34" charset="-122"/>
                <a:cs typeface="Calibri" pitchFamily="34" charset="-120"/>
              </a:rPr>
              <a:t>git push → git pull · migrate + config:cache · HTTPS Let's Encrypt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B1492A"/>
        </a:solidFill>
      </p:bgPr>
    </p:bg>
    <p:spTree>
      <p:nvGrpSpPr>
        <p:cNvPr id="1" name=""/>
        <p:cNvGrpSpPr/>
        <p:nvPr/>
      </p:nvGrpSpPr>
      <p:grpSpPr>
        <a:xfrm>
          <a:off x="0" y="0"/>
          <a:ext cx="0" cy="0"/>
          <a:chOff x="0" y="0"/>
          <a:chExt cx="0" cy="0"/>
        </a:xfrm>
      </p:grpSpPr>
      <p:sp>
        <p:nvSpPr>
          <p:cNvPr id="2" name="Text 0"/>
          <p:cNvSpPr txBox="1"/>
          <p:nvPr/>
        </p:nvSpPr>
        <p:spPr>
          <a:xfrm>
            <a:off x="0" y="1737360"/>
            <a:ext cx="12161520" cy="1097280"/>
          </a:xfrm>
          <a:prstGeom prst="rect">
            <a:avLst/>
          </a:prstGeom>
          <a:noFill/>
          <a:ln/>
        </p:spPr>
        <p:txBody>
          <a:bodyPr wrap="square" rtlCol="0" anchor="ctr"/>
          <a:lstStyle/>
          <a:p>
            <a:pPr algn="ctr" indent="0" marL="0">
              <a:buNone/>
            </a:pPr>
            <a:r>
              <a:rPr lang="en-US" sz="5400" dirty="0">
                <a:solidFill>
                  <a:srgbClr val="000000"/>
                </a:solidFill>
              </a:rPr>
              <a:t>🖥️</a:t>
            </a:r>
            <a:endParaRPr lang="en-US" sz="5400" dirty="0"/>
          </a:p>
        </p:txBody>
      </p:sp>
      <p:sp>
        <p:nvSpPr>
          <p:cNvPr id="3" name="Text 1"/>
          <p:cNvSpPr txBox="1"/>
          <p:nvPr/>
        </p:nvSpPr>
        <p:spPr>
          <a:xfrm>
            <a:off x="457200" y="2834640"/>
            <a:ext cx="11247120"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Démonstration</a:t>
            </a:r>
            <a:endParaRPr lang="en-US" sz="4400" dirty="0"/>
          </a:p>
        </p:txBody>
      </p:sp>
      <p:sp>
        <p:nvSpPr>
          <p:cNvPr id="4" name="Text 2"/>
          <p:cNvSpPr txBox="1"/>
          <p:nvPr/>
        </p:nvSpPr>
        <p:spPr>
          <a:xfrm>
            <a:off x="457200" y="3840480"/>
            <a:ext cx="11247120" cy="548640"/>
          </a:xfrm>
          <a:prstGeom prst="rect">
            <a:avLst/>
          </a:prstGeom>
          <a:noFill/>
          <a:ln/>
        </p:spPr>
        <p:txBody>
          <a:bodyPr wrap="square" rtlCol="0" anchor="ctr"/>
          <a:lstStyle/>
          <a:p>
            <a:pPr algn="ctr" indent="0" marL="0">
              <a:buNone/>
            </a:pPr>
            <a:r>
              <a:rPr lang="en-US" sz="1800" dirty="0">
                <a:solidFill>
                  <a:srgbClr val="F5ECDD"/>
                </a:solidFill>
                <a:latin typeface="Calibri" pitchFamily="34" charset="0"/>
                <a:ea typeface="Calibri" pitchFamily="34" charset="-122"/>
                <a:cs typeface="Calibri" pitchFamily="34" charset="-120"/>
              </a:rPr>
              <a:t>Parcours complet : visiteur → client → employé → administrateur</a:t>
            </a:r>
            <a:endParaRPr lang="en-US" sz="1800" dirty="0"/>
          </a:p>
        </p:txBody>
      </p:sp>
      <p:sp>
        <p:nvSpPr>
          <p:cNvPr id="5" name="Text 3"/>
          <p:cNvSpPr txBox="1"/>
          <p:nvPr/>
        </p:nvSpPr>
        <p:spPr>
          <a:xfrm>
            <a:off x="457200" y="4572000"/>
            <a:ext cx="1124712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vite-gourmand.fr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Difficultés rencontrées &amp; solutions</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9</a:t>
            </a:r>
            <a:endParaRPr lang="en-US" sz="1200" dirty="0"/>
          </a:p>
        </p:txBody>
      </p:sp>
      <p:sp>
        <p:nvSpPr>
          <p:cNvPr id="4" name="Shape 2"/>
          <p:cNvSpPr/>
          <p:nvPr/>
        </p:nvSpPr>
        <p:spPr>
          <a:xfrm>
            <a:off x="731520" y="1600200"/>
            <a:ext cx="10698480" cy="777240"/>
          </a:xfrm>
          <a:prstGeom prst="roundRect">
            <a:avLst>
              <a:gd name="adj" fmla="val 7059"/>
            </a:avLst>
          </a:prstGeom>
          <a:solidFill>
            <a:srgbClr val="FFFFFF"/>
          </a:solidFill>
          <a:ln w="12700">
            <a:solidFill>
              <a:srgbClr val="E3D5BF"/>
            </a:solidFill>
            <a:prstDash val="solid"/>
          </a:ln>
        </p:spPr>
      </p:sp>
      <p:sp>
        <p:nvSpPr>
          <p:cNvPr id="5" name="Text 3"/>
          <p:cNvSpPr txBox="1"/>
          <p:nvPr/>
        </p:nvSpPr>
        <p:spPr>
          <a:xfrm>
            <a:off x="1005840" y="1618488"/>
            <a:ext cx="3840480" cy="731520"/>
          </a:xfrm>
          <a:prstGeom prst="rect">
            <a:avLst/>
          </a:prstGeom>
          <a:noFill/>
          <a:ln/>
        </p:spPr>
        <p:txBody>
          <a:bodyPr wrap="square" lIns="0" tIns="0" rIns="0" bIns="0" rtlCol="0" anchor="ctr"/>
          <a:lstStyle/>
          <a:p>
            <a:pPr indent="0" marL="0">
              <a:buNone/>
            </a:pPr>
            <a:r>
              <a:rPr lang="en-US" sz="1500" b="1" dirty="0">
                <a:solidFill>
                  <a:srgbClr val="241B13"/>
                </a:solidFill>
                <a:latin typeface="Calibri" pitchFamily="34" charset="0"/>
                <a:ea typeface="Calibri" pitchFamily="34" charset="-122"/>
                <a:cs typeface="Calibri" pitchFamily="34" charset="-120"/>
              </a:rPr>
              <a:t>Accès SSH au VPS</a:t>
            </a:r>
            <a:endParaRPr lang="en-US" sz="1500" dirty="0"/>
          </a:p>
        </p:txBody>
      </p:sp>
      <p:sp>
        <p:nvSpPr>
          <p:cNvPr id="6" name="Text 4"/>
          <p:cNvSpPr txBox="1"/>
          <p:nvPr/>
        </p:nvSpPr>
        <p:spPr>
          <a:xfrm>
            <a:off x="5029200" y="1618488"/>
            <a:ext cx="6217920" cy="73152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Résolu via mode rescue OVH et configuration de l'utilisateur</a:t>
            </a:r>
            <a:endParaRPr lang="en-US" sz="1300" dirty="0"/>
          </a:p>
        </p:txBody>
      </p:sp>
      <p:sp>
        <p:nvSpPr>
          <p:cNvPr id="7" name="Shape 5"/>
          <p:cNvSpPr/>
          <p:nvPr/>
        </p:nvSpPr>
        <p:spPr>
          <a:xfrm>
            <a:off x="731520" y="2514600"/>
            <a:ext cx="10698480" cy="777240"/>
          </a:xfrm>
          <a:prstGeom prst="roundRect">
            <a:avLst>
              <a:gd name="adj" fmla="val 7059"/>
            </a:avLst>
          </a:prstGeom>
          <a:solidFill>
            <a:srgbClr val="FFFFFF"/>
          </a:solidFill>
          <a:ln w="12700">
            <a:solidFill>
              <a:srgbClr val="E3D5BF"/>
            </a:solidFill>
            <a:prstDash val="solid"/>
          </a:ln>
        </p:spPr>
      </p:sp>
      <p:sp>
        <p:nvSpPr>
          <p:cNvPr id="8" name="Text 6"/>
          <p:cNvSpPr txBox="1"/>
          <p:nvPr/>
        </p:nvSpPr>
        <p:spPr>
          <a:xfrm>
            <a:off x="1005840" y="2532888"/>
            <a:ext cx="3840480" cy="731520"/>
          </a:xfrm>
          <a:prstGeom prst="rect">
            <a:avLst/>
          </a:prstGeom>
          <a:noFill/>
          <a:ln/>
        </p:spPr>
        <p:txBody>
          <a:bodyPr wrap="square" lIns="0" tIns="0" rIns="0" bIns="0" rtlCol="0" anchor="ctr"/>
          <a:lstStyle/>
          <a:p>
            <a:pPr indent="0" marL="0">
              <a:buNone/>
            </a:pPr>
            <a:r>
              <a:rPr lang="en-US" sz="1500" b="1" dirty="0">
                <a:solidFill>
                  <a:srgbClr val="241B13"/>
                </a:solidFill>
                <a:latin typeface="Calibri" pitchFamily="34" charset="0"/>
                <a:ea typeface="Calibri" pitchFamily="34" charset="-122"/>
                <a:cs typeface="Calibri" pitchFamily="34" charset="-120"/>
              </a:rPr>
              <a:t>URL localhost en production</a:t>
            </a:r>
            <a:endParaRPr lang="en-US" sz="1500" dirty="0"/>
          </a:p>
        </p:txBody>
      </p:sp>
      <p:sp>
        <p:nvSpPr>
          <p:cNvPr id="9" name="Text 7"/>
          <p:cNvSpPr txBox="1"/>
          <p:nvPr/>
        </p:nvSpPr>
        <p:spPr>
          <a:xfrm>
            <a:off x="5029200" y="2532888"/>
            <a:ext cx="6217920" cy="73152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Corrigée par des variables d'environnement</a:t>
            </a:r>
            <a:endParaRPr lang="en-US" sz="1300" dirty="0"/>
          </a:p>
        </p:txBody>
      </p:sp>
      <p:sp>
        <p:nvSpPr>
          <p:cNvPr id="10" name="Shape 8"/>
          <p:cNvSpPr/>
          <p:nvPr/>
        </p:nvSpPr>
        <p:spPr>
          <a:xfrm>
            <a:off x="731520" y="3429000"/>
            <a:ext cx="10698480" cy="777240"/>
          </a:xfrm>
          <a:prstGeom prst="roundRect">
            <a:avLst>
              <a:gd name="adj" fmla="val 7059"/>
            </a:avLst>
          </a:prstGeom>
          <a:solidFill>
            <a:srgbClr val="FFFFFF"/>
          </a:solidFill>
          <a:ln w="12700">
            <a:solidFill>
              <a:srgbClr val="E3D5BF"/>
            </a:solidFill>
            <a:prstDash val="solid"/>
          </a:ln>
        </p:spPr>
      </p:sp>
      <p:sp>
        <p:nvSpPr>
          <p:cNvPr id="11" name="Text 9"/>
          <p:cNvSpPr txBox="1"/>
          <p:nvPr/>
        </p:nvSpPr>
        <p:spPr>
          <a:xfrm>
            <a:off x="1005840" y="3447288"/>
            <a:ext cx="3840480" cy="731520"/>
          </a:xfrm>
          <a:prstGeom prst="rect">
            <a:avLst/>
          </a:prstGeom>
          <a:noFill/>
          <a:ln/>
        </p:spPr>
        <p:txBody>
          <a:bodyPr wrap="square" lIns="0" tIns="0" rIns="0" bIns="0" rtlCol="0" anchor="ctr"/>
          <a:lstStyle/>
          <a:p>
            <a:pPr indent="0" marL="0">
              <a:buNone/>
            </a:pPr>
            <a:r>
              <a:rPr lang="en-US" sz="1500" b="1" dirty="0">
                <a:solidFill>
                  <a:srgbClr val="241B13"/>
                </a:solidFill>
                <a:latin typeface="Calibri" pitchFamily="34" charset="0"/>
                <a:ea typeface="Calibri" pitchFamily="34" charset="-122"/>
                <a:cs typeface="Calibri" pitchFamily="34" charset="-120"/>
              </a:rPr>
              <a:t>Routing Nginx pour l'API</a:t>
            </a:r>
            <a:endParaRPr lang="en-US" sz="1500" dirty="0"/>
          </a:p>
        </p:txBody>
      </p:sp>
      <p:sp>
        <p:nvSpPr>
          <p:cNvPr id="12" name="Text 10"/>
          <p:cNvSpPr txBox="1"/>
          <p:nvPr/>
        </p:nvSpPr>
        <p:spPr>
          <a:xfrm>
            <a:off x="5029200" y="3447288"/>
            <a:ext cx="6217920" cy="73152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Configuration du reverse proxy (/api → Laravel)</a:t>
            </a:r>
            <a:endParaRPr lang="en-US" sz="1300" dirty="0"/>
          </a:p>
        </p:txBody>
      </p:sp>
      <p:sp>
        <p:nvSpPr>
          <p:cNvPr id="13" name="Shape 11"/>
          <p:cNvSpPr/>
          <p:nvPr/>
        </p:nvSpPr>
        <p:spPr>
          <a:xfrm>
            <a:off x="731520" y="4343400"/>
            <a:ext cx="10698480" cy="777240"/>
          </a:xfrm>
          <a:prstGeom prst="roundRect">
            <a:avLst>
              <a:gd name="adj" fmla="val 7059"/>
            </a:avLst>
          </a:prstGeom>
          <a:solidFill>
            <a:srgbClr val="FFFFFF"/>
          </a:solidFill>
          <a:ln w="12700">
            <a:solidFill>
              <a:srgbClr val="E3D5BF"/>
            </a:solidFill>
            <a:prstDash val="solid"/>
          </a:ln>
        </p:spPr>
      </p:sp>
      <p:sp>
        <p:nvSpPr>
          <p:cNvPr id="14" name="Text 12"/>
          <p:cNvSpPr txBox="1"/>
          <p:nvPr/>
        </p:nvSpPr>
        <p:spPr>
          <a:xfrm>
            <a:off x="1005840" y="4361688"/>
            <a:ext cx="3840480" cy="731520"/>
          </a:xfrm>
          <a:prstGeom prst="rect">
            <a:avLst/>
          </a:prstGeom>
          <a:noFill/>
          <a:ln/>
        </p:spPr>
        <p:txBody>
          <a:bodyPr wrap="square" lIns="0" tIns="0" rIns="0" bIns="0" rtlCol="0" anchor="ctr"/>
          <a:lstStyle/>
          <a:p>
            <a:pPr indent="0" marL="0">
              <a:buNone/>
            </a:pPr>
            <a:r>
              <a:rPr lang="en-US" sz="1500" b="1" dirty="0">
                <a:solidFill>
                  <a:srgbClr val="241B13"/>
                </a:solidFill>
                <a:latin typeface="Calibri" pitchFamily="34" charset="0"/>
                <a:ea typeface="Calibri" pitchFamily="34" charset="-122"/>
                <a:cs typeface="Calibri" pitchFamily="34" charset="-120"/>
              </a:rPr>
              <a:t>MongoDB en production</a:t>
            </a:r>
            <a:endParaRPr lang="en-US" sz="1500" dirty="0"/>
          </a:p>
        </p:txBody>
      </p:sp>
      <p:sp>
        <p:nvSpPr>
          <p:cNvPr id="15" name="Text 13"/>
          <p:cNvSpPr txBox="1"/>
          <p:nvPr/>
        </p:nvSpPr>
        <p:spPr>
          <a:xfrm>
            <a:off x="5029200" y="4361688"/>
            <a:ext cx="6217920" cy="73152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Extension installée ; panne Atlas (sept. 2026) diagnostiquée par les logs → synchro non bloquante</a:t>
            </a:r>
            <a:endParaRPr lang="en-US" sz="1300" dirty="0"/>
          </a:p>
        </p:txBody>
      </p:sp>
      <p:sp>
        <p:nvSpPr>
          <p:cNvPr id="16" name="Shape 14"/>
          <p:cNvSpPr/>
          <p:nvPr/>
        </p:nvSpPr>
        <p:spPr>
          <a:xfrm>
            <a:off x="731520" y="5257800"/>
            <a:ext cx="10698480" cy="777240"/>
          </a:xfrm>
          <a:prstGeom prst="roundRect">
            <a:avLst>
              <a:gd name="adj" fmla="val 7059"/>
            </a:avLst>
          </a:prstGeom>
          <a:solidFill>
            <a:srgbClr val="F5ECDD"/>
          </a:solidFill>
          <a:ln w="12700">
            <a:solidFill>
              <a:srgbClr val="E3D5BF"/>
            </a:solidFill>
            <a:prstDash val="solid"/>
          </a:ln>
        </p:spPr>
      </p:sp>
      <p:sp>
        <p:nvSpPr>
          <p:cNvPr id="17" name="Text 15"/>
          <p:cNvSpPr txBox="1"/>
          <p:nvPr/>
        </p:nvSpPr>
        <p:spPr>
          <a:xfrm>
            <a:off x="1005840" y="5276088"/>
            <a:ext cx="3840480" cy="731520"/>
          </a:xfrm>
          <a:prstGeom prst="rect">
            <a:avLst/>
          </a:prstGeom>
          <a:noFill/>
          <a:ln/>
        </p:spPr>
        <p:txBody>
          <a:bodyPr wrap="square" lIns="0" tIns="0" rIns="0" bIns="0" rtlCol="0" anchor="ctr"/>
          <a:lstStyle/>
          <a:p>
            <a:pPr indent="0" marL="0">
              <a:buNone/>
            </a:pPr>
            <a:r>
              <a:rPr lang="en-US" sz="1500" b="1" dirty="0">
                <a:solidFill>
                  <a:srgbClr val="B1492A"/>
                </a:solidFill>
                <a:latin typeface="Calibri" pitchFamily="34" charset="0"/>
                <a:ea typeface="Calibri" pitchFamily="34" charset="-122"/>
                <a:cs typeface="Calibri" pitchFamily="34" charset="-120"/>
              </a:rPr>
              <a:t>Faille d'autorisation</a:t>
            </a:r>
            <a:endParaRPr lang="en-US" sz="1500" dirty="0"/>
          </a:p>
        </p:txBody>
      </p:sp>
      <p:sp>
        <p:nvSpPr>
          <p:cNvPr id="18" name="Text 16"/>
          <p:cNvSpPr txBox="1"/>
          <p:nvPr/>
        </p:nvSpPr>
        <p:spPr>
          <a:xfrm>
            <a:off x="5029200" y="5276088"/>
            <a:ext cx="6217920" cy="731520"/>
          </a:xfrm>
          <a:prstGeom prst="rect">
            <a:avLst/>
          </a:prstGeom>
          <a:noFill/>
          <a:ln/>
        </p:spPr>
        <p:txBody>
          <a:bodyPr wrap="square" lIns="0" tIns="0" rIns="0" bIns="0" rtlCol="0" anchor="ctr"/>
          <a:lstStyle/>
          <a:p>
            <a:pPr indent="0" marL="0">
              <a:buNone/>
            </a:pPr>
            <a:r>
              <a:rPr lang="en-US" sz="1300" dirty="0">
                <a:solidFill>
                  <a:srgbClr val="6B5D4A"/>
                </a:solidFill>
                <a:latin typeface="Calibri" pitchFamily="34" charset="0"/>
                <a:ea typeface="Calibri" pitchFamily="34" charset="-122"/>
                <a:cs typeface="Calibri" pitchFamily="34" charset="-120"/>
              </a:rPr>
              <a:t>Détectée par les tests, corrigée par middleware CheckRole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Perspectives d'évolution</a:t>
            </a:r>
            <a:endParaRPr lang="en-US" sz="3200" dirty="0"/>
          </a:p>
        </p:txBody>
      </p:sp>
      <p:sp>
        <p:nvSpPr>
          <p:cNvPr id="3" name="Text 1"/>
          <p:cNvSpPr txBox="1"/>
          <p:nvPr/>
        </p:nvSpPr>
        <p:spPr>
          <a:xfrm>
            <a:off x="11155680" y="457200"/>
            <a:ext cx="548640" cy="457200"/>
          </a:xfrm>
          <a:prstGeom prst="rect">
            <a:avLst/>
          </a:prstGeom>
          <a:noFill/>
          <a:ln/>
        </p:spPr>
        <p:txBody>
          <a:bodyPr wrap="square" rtlCol="0" anchor="ctr"/>
          <a:lstStyle/>
          <a:p>
            <a:pPr algn="r" indent="0" marL="0">
              <a:buNone/>
            </a:pPr>
            <a:r>
              <a:rPr lang="en-US" sz="1200" dirty="0">
                <a:solidFill>
                  <a:srgbClr val="6B5D4A"/>
                </a:solidFill>
                <a:latin typeface="Calibri" pitchFamily="34" charset="0"/>
                <a:ea typeface="Calibri" pitchFamily="34" charset="-122"/>
                <a:cs typeface="Calibri" pitchFamily="34" charset="-120"/>
              </a:rPr>
              <a:t>9</a:t>
            </a:r>
            <a:endParaRPr lang="en-US" sz="1200" dirty="0"/>
          </a:p>
        </p:txBody>
      </p:sp>
      <p:sp>
        <p:nvSpPr>
          <p:cNvPr id="4" name="Text 2"/>
          <p:cNvSpPr txBox="1"/>
          <p:nvPr/>
        </p:nvSpPr>
        <p:spPr>
          <a:xfrm>
            <a:off x="731520" y="1554480"/>
            <a:ext cx="5029200" cy="457200"/>
          </a:xfrm>
          <a:prstGeom prst="rect">
            <a:avLst/>
          </a:prstGeom>
          <a:noFill/>
          <a:ln/>
        </p:spPr>
        <p:txBody>
          <a:bodyPr wrap="square" rtlCol="0" anchor="ctr"/>
          <a:lstStyle/>
          <a:p>
            <a:pPr indent="0" marL="0">
              <a:buNone/>
            </a:pPr>
            <a:r>
              <a:rPr lang="en-US" sz="1800" b="1" dirty="0">
                <a:solidFill>
                  <a:srgbClr val="B1492A"/>
                </a:solidFill>
                <a:latin typeface="Calibri" pitchFamily="34" charset="0"/>
                <a:ea typeface="Calibri" pitchFamily="34" charset="-122"/>
                <a:cs typeface="Calibri" pitchFamily="34" charset="-120"/>
              </a:rPr>
              <a:t>Fonctionnelles</a:t>
            </a:r>
            <a:endParaRPr lang="en-US" sz="1800" dirty="0"/>
          </a:p>
        </p:txBody>
      </p:sp>
      <p:sp>
        <p:nvSpPr>
          <p:cNvPr id="5" name="Text 3"/>
          <p:cNvSpPr txBox="1"/>
          <p:nvPr/>
        </p:nvSpPr>
        <p:spPr>
          <a:xfrm>
            <a:off x="914400" y="2057400"/>
            <a:ext cx="4846320" cy="2743200"/>
          </a:xfrm>
          <a:prstGeom prst="rect">
            <a:avLst/>
          </a:prstGeom>
          <a:noFill/>
          <a:ln/>
        </p:spPr>
        <p:txBody>
          <a:bodyPr wrap="square" rtlCol="0" anchor="ctr"/>
          <a:lstStyle/>
          <a:p>
            <a:pPr marL="342900" indent="-342900">
              <a:spcAft>
                <a:spcPts val="800"/>
              </a:spcAft>
              <a:buSzPct val="100000"/>
              <a:buChar char="•"/>
            </a:pPr>
            <a:r>
              <a:rPr lang="en-US" sz="1500" dirty="0">
                <a:solidFill>
                  <a:srgbClr val="241B13"/>
                </a:solidFill>
                <a:latin typeface="Calibri" pitchFamily="34" charset="0"/>
                <a:ea typeface="Calibri" pitchFamily="34" charset="-122"/>
                <a:cs typeface="Calibri" pitchFamily="34" charset="-120"/>
              </a:rPr>
              <a:t>Paiement en ligne (Stripe)</a:t>
            </a:r>
            <a:endParaRPr lang="en-US" sz="1500" dirty="0"/>
          </a:p>
          <a:p>
            <a:pPr marL="342900" indent="-342900">
              <a:spcAft>
                <a:spcPts val="800"/>
              </a:spcAft>
              <a:buSzPct val="100000"/>
              <a:buChar char="•"/>
            </a:pPr>
            <a:r>
              <a:rPr lang="en-US" sz="1500" dirty="0">
                <a:solidFill>
                  <a:srgbClr val="241B13"/>
                </a:solidFill>
                <a:latin typeface="Calibri" pitchFamily="34" charset="0"/>
                <a:ea typeface="Calibri" pitchFamily="34" charset="-122"/>
                <a:cs typeface="Calibri" pitchFamily="34" charset="-120"/>
              </a:rPr>
              <a:t>Automatisation de la caution matériel</a:t>
            </a:r>
            <a:endParaRPr lang="en-US" sz="1500" dirty="0"/>
          </a:p>
          <a:p>
            <a:pPr marL="342900" indent="-342900">
              <a:spcAft>
                <a:spcPts val="800"/>
              </a:spcAft>
              <a:buSzPct val="100000"/>
              <a:buChar char="•"/>
            </a:pPr>
            <a:r>
              <a:rPr lang="en-US" sz="1500" dirty="0">
                <a:solidFill>
                  <a:srgbClr val="241B13"/>
                </a:solidFill>
                <a:latin typeface="Calibri" pitchFamily="34" charset="0"/>
                <a:ea typeface="Calibri" pitchFamily="34" charset="-122"/>
                <a:cs typeface="Calibri" pitchFamily="34" charset="-120"/>
              </a:rPr>
              <a:t>Application mobile</a:t>
            </a:r>
            <a:endParaRPr lang="en-US" sz="1500" dirty="0"/>
          </a:p>
          <a:p>
            <a:pPr marL="342900" indent="-342900">
              <a:spcAft>
                <a:spcPts val="800"/>
              </a:spcAft>
              <a:buSzPct val="100000"/>
              <a:buChar char="•"/>
            </a:pPr>
            <a:r>
              <a:rPr lang="en-US" sz="1500" dirty="0">
                <a:solidFill>
                  <a:srgbClr val="241B13"/>
                </a:solidFill>
                <a:latin typeface="Calibri" pitchFamily="34" charset="0"/>
                <a:ea typeface="Calibri" pitchFamily="34" charset="-122"/>
                <a:cs typeface="Calibri" pitchFamily="34" charset="-120"/>
              </a:rPr>
              <a:t>Multi-langue (i18n)</a:t>
            </a:r>
            <a:endParaRPr lang="en-US" sz="1500" dirty="0"/>
          </a:p>
        </p:txBody>
      </p:sp>
      <p:sp>
        <p:nvSpPr>
          <p:cNvPr id="6" name="Text 4"/>
          <p:cNvSpPr txBox="1"/>
          <p:nvPr/>
        </p:nvSpPr>
        <p:spPr>
          <a:xfrm>
            <a:off x="6217920" y="1554480"/>
            <a:ext cx="5029200" cy="457200"/>
          </a:xfrm>
          <a:prstGeom prst="rect">
            <a:avLst/>
          </a:prstGeom>
          <a:noFill/>
          <a:ln/>
        </p:spPr>
        <p:txBody>
          <a:bodyPr wrap="square" rtlCol="0" anchor="ctr"/>
          <a:lstStyle/>
          <a:p>
            <a:pPr indent="0" marL="0">
              <a:buNone/>
            </a:pPr>
            <a:r>
              <a:rPr lang="en-US" sz="1800" b="1" dirty="0">
                <a:solidFill>
                  <a:srgbClr val="B1492A"/>
                </a:solidFill>
                <a:latin typeface="Calibri" pitchFamily="34" charset="0"/>
                <a:ea typeface="Calibri" pitchFamily="34" charset="-122"/>
                <a:cs typeface="Calibri" pitchFamily="34" charset="-120"/>
              </a:rPr>
              <a:t>Techniques</a:t>
            </a:r>
            <a:endParaRPr lang="en-US" sz="1800" dirty="0"/>
          </a:p>
        </p:txBody>
      </p:sp>
      <p:sp>
        <p:nvSpPr>
          <p:cNvPr id="7" name="Text 5"/>
          <p:cNvSpPr txBox="1"/>
          <p:nvPr/>
        </p:nvSpPr>
        <p:spPr>
          <a:xfrm>
            <a:off x="6400800" y="2057400"/>
            <a:ext cx="4846320" cy="2743200"/>
          </a:xfrm>
          <a:prstGeom prst="rect">
            <a:avLst/>
          </a:prstGeom>
          <a:noFill/>
          <a:ln/>
        </p:spPr>
        <p:txBody>
          <a:bodyPr wrap="square" rtlCol="0" anchor="ctr"/>
          <a:lstStyle/>
          <a:p>
            <a:pPr marL="342900" indent="-342900">
              <a:spcAft>
                <a:spcPts val="800"/>
              </a:spcAft>
              <a:buSzPct val="100000"/>
              <a:buChar char="•"/>
            </a:pPr>
            <a:r>
              <a:rPr lang="en-US" sz="1500" dirty="0">
                <a:solidFill>
                  <a:srgbClr val="241B13"/>
                </a:solidFill>
                <a:latin typeface="Calibri" pitchFamily="34" charset="0"/>
                <a:ea typeface="Calibri" pitchFamily="34" charset="-122"/>
                <a:cs typeface="Calibri" pitchFamily="34" charset="-120"/>
              </a:rPr>
              <a:t>Pipeline CI/CD (GitHub Actions)</a:t>
            </a:r>
            <a:endParaRPr lang="en-US" sz="1500" dirty="0"/>
          </a:p>
          <a:p>
            <a:pPr marL="342900" indent="-342900">
              <a:spcAft>
                <a:spcPts val="800"/>
              </a:spcAft>
              <a:buSzPct val="100000"/>
              <a:buChar char="•"/>
            </a:pPr>
            <a:r>
              <a:rPr lang="en-US" sz="1500" dirty="0">
                <a:solidFill>
                  <a:srgbClr val="241B13"/>
                </a:solidFill>
                <a:latin typeface="Calibri" pitchFamily="34" charset="0"/>
                <a:ea typeface="Calibri" pitchFamily="34" charset="-122"/>
                <a:cs typeface="Calibri" pitchFamily="34" charset="-120"/>
              </a:rPr>
              <a:t>Cache Redis</a:t>
            </a:r>
            <a:endParaRPr lang="en-US" sz="1500" dirty="0"/>
          </a:p>
          <a:p>
            <a:pPr marL="342900" indent="-342900">
              <a:spcAft>
                <a:spcPts val="800"/>
              </a:spcAft>
              <a:buSzPct val="100000"/>
              <a:buChar char="•"/>
            </a:pPr>
            <a:r>
              <a:rPr lang="en-US" sz="1500" dirty="0">
                <a:solidFill>
                  <a:srgbClr val="241B13"/>
                </a:solidFill>
                <a:latin typeface="Calibri" pitchFamily="34" charset="0"/>
                <a:ea typeface="Calibri" pitchFamily="34" charset="-122"/>
                <a:cs typeface="Calibri" pitchFamily="34" charset="-120"/>
              </a:rPr>
              <a:t>Tests end-to-end (Cypress)</a:t>
            </a:r>
            <a:endParaRPr lang="en-US" sz="1500" dirty="0"/>
          </a:p>
          <a:p>
            <a:pPr marL="342900" indent="-342900">
              <a:spcAft>
                <a:spcPts val="800"/>
              </a:spcAft>
              <a:buSzPct val="100000"/>
              <a:buChar char="•"/>
            </a:pPr>
            <a:r>
              <a:rPr lang="en-US" sz="1500" dirty="0">
                <a:solidFill>
                  <a:srgbClr val="241B13"/>
                </a:solidFill>
                <a:latin typeface="Calibri" pitchFamily="34" charset="0"/>
                <a:ea typeface="Calibri" pitchFamily="34" charset="-122"/>
                <a:cs typeface="Calibri" pitchFamily="34" charset="-120"/>
              </a:rPr>
              <a:t>Authentification 2FA</a:t>
            </a:r>
            <a:endParaRPr lang="en-US" sz="1500" dirty="0"/>
          </a:p>
        </p:txBody>
      </p:sp>
      <p:sp>
        <p:nvSpPr>
          <p:cNvPr id="8" name="Text 6"/>
          <p:cNvSpPr txBox="1"/>
          <p:nvPr/>
        </p:nvSpPr>
        <p:spPr>
          <a:xfrm>
            <a:off x="731520" y="5669280"/>
            <a:ext cx="10698480" cy="457200"/>
          </a:xfrm>
          <a:prstGeom prst="rect">
            <a:avLst/>
          </a:prstGeom>
          <a:noFill/>
          <a:ln/>
        </p:spPr>
        <p:txBody>
          <a:bodyPr wrap="square" rtlCol="0" anchor="ctr"/>
          <a:lstStyle/>
          <a:p>
            <a:pPr algn="ctr" indent="0" marL="0">
              <a:buNone/>
            </a:pPr>
            <a:r>
              <a:rPr lang="en-US" sz="1400" i="1" dirty="0">
                <a:solidFill>
                  <a:srgbClr val="6B5D4A"/>
                </a:solidFill>
                <a:latin typeface="Calibri" pitchFamily="34" charset="0"/>
                <a:ea typeface="Calibri" pitchFamily="34" charset="-122"/>
                <a:cs typeface="Calibri" pitchFamily="34" charset="-120"/>
              </a:rPr>
              <a:t>Un périmètre maîtrisé, avec des axes d'amélioration identifiés.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515600" cy="822960"/>
          </a:xfrm>
          <a:prstGeom prst="rect">
            <a:avLst/>
          </a:prstGeom>
          <a:noFill/>
          <a:ln/>
        </p:spPr>
        <p:txBody>
          <a:bodyPr wrap="square" lIns="0" tIns="0" rIns="0" bIns="0" rtlCol="0" anchor="ctr"/>
          <a:lstStyle/>
          <a:p>
            <a:pPr indent="0" marL="0">
              <a:buNone/>
            </a:pPr>
            <a:r>
              <a:rPr lang="en-US" sz="3200" b="1" dirty="0">
                <a:solidFill>
                  <a:srgbClr val="241B13"/>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731520" y="1554480"/>
            <a:ext cx="10698480" cy="548640"/>
          </a:xfrm>
          <a:prstGeom prst="rect">
            <a:avLst/>
          </a:prstGeom>
          <a:noFill/>
          <a:ln/>
        </p:spPr>
        <p:txBody>
          <a:bodyPr wrap="square" rtlCol="0" anchor="ctr"/>
          <a:lstStyle/>
          <a:p>
            <a:pPr indent="0" marL="0">
              <a:buNone/>
            </a:pPr>
            <a:r>
              <a:rPr lang="en-US" sz="2000" b="1" dirty="0">
                <a:solidFill>
                  <a:srgbClr val="B1492A"/>
                </a:solidFill>
                <a:latin typeface="Cambria" pitchFamily="34" charset="0"/>
                <a:ea typeface="Cambria" pitchFamily="34" charset="-122"/>
                <a:cs typeface="Cambria" pitchFamily="34" charset="-120"/>
              </a:rPr>
              <a:t>Une application complète et fonctionnelle en production</a:t>
            </a:r>
            <a:endParaRPr lang="en-US" sz="2000" dirty="0"/>
          </a:p>
        </p:txBody>
      </p:sp>
      <p:sp>
        <p:nvSpPr>
          <p:cNvPr id="4" name="Text 2"/>
          <p:cNvSpPr txBox="1"/>
          <p:nvPr/>
        </p:nvSpPr>
        <p:spPr>
          <a:xfrm>
            <a:off x="914400" y="2286000"/>
            <a:ext cx="6858000" cy="2743200"/>
          </a:xfrm>
          <a:prstGeom prst="rect">
            <a:avLst/>
          </a:prstGeom>
          <a:noFill/>
          <a:ln/>
        </p:spPr>
        <p:txBody>
          <a:bodyPr wrap="square" rtlCol="0" anchor="ctr"/>
          <a:lstStyle/>
          <a:p>
            <a:pPr marL="342900" indent="-342900">
              <a:spcAft>
                <a:spcPts val="800"/>
              </a:spcAft>
              <a:buSzPct val="100000"/>
              <a:buChar char="✓"/>
            </a:pPr>
            <a:r>
              <a:rPr lang="en-US" sz="1600" dirty="0">
                <a:solidFill>
                  <a:srgbClr val="241B13"/>
                </a:solidFill>
                <a:latin typeface="Calibri" pitchFamily="34" charset="0"/>
                <a:ea typeface="Calibri" pitchFamily="34" charset="-122"/>
                <a:cs typeface="Calibri" pitchFamily="34" charset="-120"/>
              </a:rPr>
              <a:t>Stack moderne : React, Laravel, PostgreSQL, MongoDB</a:t>
            </a:r>
            <a:endParaRPr lang="en-US" sz="1600" dirty="0"/>
          </a:p>
          <a:p>
            <a:pPr marL="342900" indent="-342900">
              <a:spcAft>
                <a:spcPts val="800"/>
              </a:spcAft>
              <a:buSzPct val="100000"/>
              <a:buChar char="✓"/>
            </a:pPr>
            <a:r>
              <a:rPr lang="en-US" sz="1600" dirty="0">
                <a:solidFill>
                  <a:srgbClr val="241B13"/>
                </a:solidFill>
                <a:latin typeface="Calibri" pitchFamily="34" charset="0"/>
                <a:ea typeface="Calibri" pitchFamily="34" charset="-122"/>
                <a:cs typeface="Calibri" pitchFamily="34" charset="-120"/>
              </a:rPr>
              <a:t>Sécurité et RGPD respectés</a:t>
            </a:r>
            <a:endParaRPr lang="en-US" sz="1600" dirty="0"/>
          </a:p>
          <a:p>
            <a:pPr marL="342900" indent="-342900">
              <a:spcAft>
                <a:spcPts val="800"/>
              </a:spcAft>
              <a:buSzPct val="100000"/>
              <a:buChar char="✓"/>
            </a:pPr>
            <a:r>
              <a:rPr lang="en-US" sz="1600" dirty="0">
                <a:solidFill>
                  <a:srgbClr val="241B13"/>
                </a:solidFill>
                <a:latin typeface="Calibri" pitchFamily="34" charset="0"/>
                <a:ea typeface="Calibri" pitchFamily="34" charset="-122"/>
                <a:cs typeface="Calibri" pitchFamily="34" charset="-120"/>
              </a:rPr>
              <a:t>18 tests automatisés</a:t>
            </a:r>
            <a:endParaRPr lang="en-US" sz="1600" dirty="0"/>
          </a:p>
          <a:p>
            <a:pPr marL="342900" indent="-342900">
              <a:spcAft>
                <a:spcPts val="800"/>
              </a:spcAft>
              <a:buSzPct val="100000"/>
              <a:buChar char="✓"/>
            </a:pPr>
            <a:r>
              <a:rPr lang="en-US" sz="1600" dirty="0">
                <a:solidFill>
                  <a:srgbClr val="241B13"/>
                </a:solidFill>
                <a:latin typeface="Calibri" pitchFamily="34" charset="0"/>
                <a:ea typeface="Calibri" pitchFamily="34" charset="-122"/>
                <a:cs typeface="Calibri" pitchFamily="34" charset="-120"/>
              </a:rPr>
              <a:t>Déployée en production (VPS OVH, HTTPS)</a:t>
            </a:r>
            <a:endParaRPr lang="en-US" sz="1600" dirty="0"/>
          </a:p>
          <a:p>
            <a:pPr marL="342900" indent="-342900">
              <a:spcAft>
                <a:spcPts val="800"/>
              </a:spcAft>
              <a:buSzPct val="100000"/>
              <a:buChar char="✓"/>
            </a:pPr>
            <a:r>
              <a:rPr lang="en-US" sz="1600" dirty="0">
                <a:solidFill>
                  <a:srgbClr val="241B13"/>
                </a:solidFill>
                <a:latin typeface="Calibri" pitchFamily="34" charset="0"/>
                <a:ea typeface="Calibri" pitchFamily="34" charset="-122"/>
                <a:cs typeface="Calibri" pitchFamily="34" charset="-120"/>
              </a:rPr>
              <a:t>Documentation et maquettes complètes</a:t>
            </a:r>
            <a:endParaRPr lang="en-US" sz="1600" dirty="0"/>
          </a:p>
        </p:txBody>
      </p:sp>
      <p:sp>
        <p:nvSpPr>
          <p:cNvPr id="5" name="Shape 3"/>
          <p:cNvSpPr/>
          <p:nvPr/>
        </p:nvSpPr>
        <p:spPr>
          <a:xfrm>
            <a:off x="8046720" y="2286000"/>
            <a:ext cx="3383280" cy="2651760"/>
          </a:xfrm>
          <a:prstGeom prst="roundRect">
            <a:avLst>
              <a:gd name="adj" fmla="val 3448"/>
            </a:avLst>
          </a:prstGeom>
          <a:solidFill>
            <a:srgbClr val="F5ECDD"/>
          </a:solidFill>
          <a:ln/>
        </p:spPr>
      </p:sp>
      <p:sp>
        <p:nvSpPr>
          <p:cNvPr id="6" name="Text 4"/>
          <p:cNvSpPr txBox="1"/>
          <p:nvPr/>
        </p:nvSpPr>
        <p:spPr>
          <a:xfrm>
            <a:off x="8229600" y="2514600"/>
            <a:ext cx="3017520" cy="457200"/>
          </a:xfrm>
          <a:prstGeom prst="rect">
            <a:avLst/>
          </a:prstGeom>
          <a:noFill/>
          <a:ln/>
        </p:spPr>
        <p:txBody>
          <a:bodyPr wrap="square" rtlCol="0" anchor="ctr"/>
          <a:lstStyle/>
          <a:p>
            <a:pPr algn="ctr" indent="0" marL="0">
              <a:buNone/>
            </a:pPr>
            <a:r>
              <a:rPr lang="en-US" sz="1500" b="1" dirty="0">
                <a:solidFill>
                  <a:srgbClr val="241B13"/>
                </a:solidFill>
                <a:latin typeface="Calibri" pitchFamily="34" charset="0"/>
                <a:ea typeface="Calibri" pitchFamily="34" charset="-122"/>
                <a:cs typeface="Calibri" pitchFamily="34" charset="-120"/>
              </a:rPr>
              <a:t>Compétences validées</a:t>
            </a:r>
            <a:endParaRPr lang="en-US" sz="1500" dirty="0"/>
          </a:p>
        </p:txBody>
      </p:sp>
      <p:sp>
        <p:nvSpPr>
          <p:cNvPr id="7" name="Text 5"/>
          <p:cNvSpPr txBox="1"/>
          <p:nvPr/>
        </p:nvSpPr>
        <p:spPr>
          <a:xfrm>
            <a:off x="8229600" y="3063240"/>
            <a:ext cx="3017520" cy="640080"/>
          </a:xfrm>
          <a:prstGeom prst="rect">
            <a:avLst/>
          </a:prstGeom>
          <a:noFill/>
          <a:ln/>
        </p:spPr>
        <p:txBody>
          <a:bodyPr wrap="square" rtlCol="0" anchor="ctr"/>
          <a:lstStyle/>
          <a:p>
            <a:pPr algn="ctr" indent="0" marL="0">
              <a:buNone/>
            </a:pPr>
            <a:r>
              <a:rPr lang="en-US" sz="1400" b="1" dirty="0">
                <a:solidFill>
                  <a:srgbClr val="B1492A"/>
                </a:solidFill>
                <a:latin typeface="Calibri" pitchFamily="34" charset="0"/>
                <a:ea typeface="Calibri" pitchFamily="34" charset="-122"/>
                <a:cs typeface="Calibri" pitchFamily="34" charset="-120"/>
              </a:rPr>
              <a:t>CCP1</a:t>
            </a:r>
            <a:endParaRPr lang="en-US" sz="1400" dirty="0"/>
          </a:p>
          <a:p>
            <a:pPr algn="ctr" indent="0" marL="0">
              <a:buNone/>
            </a:pPr>
            <a:r>
              <a:rPr lang="en-US" sz="1400" b="1" dirty="0">
                <a:solidFill>
                  <a:srgbClr val="B1492A"/>
                </a:solidFill>
                <a:latin typeface="Calibri" pitchFamily="34" charset="0"/>
                <a:ea typeface="Calibri" pitchFamily="34" charset="-122"/>
                <a:cs typeface="Calibri" pitchFamily="34" charset="-120"/>
              </a:rPr>
              <a:t>Front-end sécurisé</a:t>
            </a:r>
            <a:endParaRPr lang="en-US" sz="1400" dirty="0"/>
          </a:p>
        </p:txBody>
      </p:sp>
      <p:sp>
        <p:nvSpPr>
          <p:cNvPr id="8" name="Text 6"/>
          <p:cNvSpPr txBox="1"/>
          <p:nvPr/>
        </p:nvSpPr>
        <p:spPr>
          <a:xfrm>
            <a:off x="8229600" y="3840480"/>
            <a:ext cx="3017520" cy="640080"/>
          </a:xfrm>
          <a:prstGeom prst="rect">
            <a:avLst/>
          </a:prstGeom>
          <a:noFill/>
          <a:ln/>
        </p:spPr>
        <p:txBody>
          <a:bodyPr wrap="square" rtlCol="0" anchor="ctr"/>
          <a:lstStyle/>
          <a:p>
            <a:pPr algn="ctr" indent="0" marL="0">
              <a:buNone/>
            </a:pPr>
            <a:r>
              <a:rPr lang="en-US" sz="1400" b="1" dirty="0">
                <a:solidFill>
                  <a:srgbClr val="B1492A"/>
                </a:solidFill>
                <a:latin typeface="Calibri" pitchFamily="34" charset="0"/>
                <a:ea typeface="Calibri" pitchFamily="34" charset="-122"/>
                <a:cs typeface="Calibri" pitchFamily="34" charset="-120"/>
              </a:rPr>
              <a:t>CCP2</a:t>
            </a:r>
            <a:endParaRPr lang="en-US" sz="1400" dirty="0"/>
          </a:p>
          <a:p>
            <a:pPr algn="ctr" indent="0" marL="0">
              <a:buNone/>
            </a:pPr>
            <a:r>
              <a:rPr lang="en-US" sz="1400" b="1" dirty="0">
                <a:solidFill>
                  <a:srgbClr val="B1492A"/>
                </a:solidFill>
                <a:latin typeface="Calibri" pitchFamily="34" charset="0"/>
                <a:ea typeface="Calibri" pitchFamily="34" charset="-122"/>
                <a:cs typeface="Calibri" pitchFamily="34" charset="-120"/>
              </a:rPr>
              <a:t>Back-end sécurisé</a:t>
            </a:r>
            <a:endParaRPr lang="en-US" sz="1400" dirty="0"/>
          </a:p>
        </p:txBody>
      </p:sp>
      <p:sp>
        <p:nvSpPr>
          <p:cNvPr id="9" name="Text 7"/>
          <p:cNvSpPr txBox="1"/>
          <p:nvPr/>
        </p:nvSpPr>
        <p:spPr>
          <a:xfrm>
            <a:off x="8229600" y="4572000"/>
            <a:ext cx="3017520" cy="365760"/>
          </a:xfrm>
          <a:prstGeom prst="rect">
            <a:avLst/>
          </a:prstGeom>
          <a:noFill/>
          <a:ln/>
        </p:spPr>
        <p:txBody>
          <a:bodyPr wrap="square" rtlCol="0" anchor="ctr"/>
          <a:lstStyle/>
          <a:p>
            <a:pPr algn="ctr" indent="0" marL="0">
              <a:buNone/>
            </a:pPr>
            <a:r>
              <a:rPr lang="en-US" sz="1100" dirty="0">
                <a:solidFill>
                  <a:srgbClr val="6B5D4A"/>
                </a:solidFill>
                <a:latin typeface="Calibri" pitchFamily="34" charset="0"/>
                <a:ea typeface="Calibri" pitchFamily="34" charset="-122"/>
                <a:cs typeface="Calibri" pitchFamily="34" charset="-120"/>
              </a:rPr>
              <a:t>+ déploiement &amp; sécurité</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241B13"/>
        </a:solidFill>
      </p:bgPr>
    </p:bg>
    <p:spTree>
      <p:nvGrpSpPr>
        <p:cNvPr id="1" name=""/>
        <p:cNvGrpSpPr/>
        <p:nvPr/>
      </p:nvGrpSpPr>
      <p:grpSpPr>
        <a:xfrm>
          <a:off x="0" y="0"/>
          <a:ext cx="0" cy="0"/>
          <a:chOff x="0" y="0"/>
          <a:chExt cx="0" cy="0"/>
        </a:xfrm>
      </p:grpSpPr>
      <p:sp>
        <p:nvSpPr>
          <p:cNvPr id="2" name="Text 0"/>
          <p:cNvSpPr txBox="1"/>
          <p:nvPr/>
        </p:nvSpPr>
        <p:spPr>
          <a:xfrm>
            <a:off x="0" y="1554480"/>
            <a:ext cx="12161520" cy="914400"/>
          </a:xfrm>
          <a:prstGeom prst="rect">
            <a:avLst/>
          </a:prstGeom>
          <a:noFill/>
          <a:ln/>
        </p:spPr>
        <p:txBody>
          <a:bodyPr wrap="square" rtlCol="0" anchor="ctr"/>
          <a:lstStyle/>
          <a:p>
            <a:pPr algn="ctr" indent="0" marL="0">
              <a:buNone/>
            </a:pPr>
            <a:r>
              <a:rPr lang="en-US" sz="4000" dirty="0">
                <a:solidFill>
                  <a:srgbClr val="000000"/>
                </a:solidFill>
              </a:rPr>
              <a:t>🍽</a:t>
            </a:r>
            <a:endParaRPr lang="en-US" sz="4000" dirty="0"/>
          </a:p>
        </p:txBody>
      </p:sp>
      <p:sp>
        <p:nvSpPr>
          <p:cNvPr id="3" name="Text 1"/>
          <p:cNvSpPr txBox="1"/>
          <p:nvPr/>
        </p:nvSpPr>
        <p:spPr>
          <a:xfrm>
            <a:off x="457200" y="2468880"/>
            <a:ext cx="11247120" cy="914400"/>
          </a:xfrm>
          <a:prstGeom prst="rect">
            <a:avLst/>
          </a:prstGeom>
          <a:noFill/>
          <a:ln/>
        </p:spPr>
        <p:txBody>
          <a:bodyPr wrap="square" rtlCol="0" anchor="ctr"/>
          <a:lstStyle/>
          <a:p>
            <a:pPr algn="ctr" indent="0" marL="0">
              <a:buNone/>
            </a:pPr>
            <a:r>
              <a:rPr lang="en-US" sz="4400" b="1" dirty="0">
                <a:solidFill>
                  <a:srgbClr val="F5ECDD"/>
                </a:solidFill>
                <a:latin typeface="Cambria" pitchFamily="34" charset="0"/>
                <a:ea typeface="Cambria" pitchFamily="34" charset="-122"/>
                <a:cs typeface="Cambria" pitchFamily="34" charset="-120"/>
              </a:rPr>
              <a:t>Merci de votre attention</a:t>
            </a:r>
            <a:endParaRPr lang="en-US" sz="4400" dirty="0"/>
          </a:p>
        </p:txBody>
      </p:sp>
      <p:sp>
        <p:nvSpPr>
          <p:cNvPr id="4" name="Text 2"/>
          <p:cNvSpPr txBox="1"/>
          <p:nvPr/>
        </p:nvSpPr>
        <p:spPr>
          <a:xfrm>
            <a:off x="457200" y="3566160"/>
            <a:ext cx="11247120" cy="548640"/>
          </a:xfrm>
          <a:prstGeom prst="rect">
            <a:avLst/>
          </a:prstGeom>
          <a:noFill/>
          <a:ln/>
        </p:spPr>
        <p:txBody>
          <a:bodyPr wrap="square" rtlCol="0" anchor="ctr"/>
          <a:lstStyle/>
          <a:p>
            <a:pPr algn="ctr" indent="0" marL="0">
              <a:buNone/>
            </a:pPr>
            <a:r>
              <a:rPr lang="en-US" sz="2000" i="1" dirty="0">
                <a:solidFill>
                  <a:srgbClr val="E3D5BF"/>
                </a:solidFill>
                <a:latin typeface="Calibri" pitchFamily="34" charset="0"/>
                <a:ea typeface="Calibri" pitchFamily="34" charset="-122"/>
                <a:cs typeface="Calibri" pitchFamily="34" charset="-120"/>
              </a:rPr>
              <a:t>Je suis prêt à répondre à vos questions</a:t>
            </a:r>
            <a:endParaRPr lang="en-US" sz="2000" dirty="0"/>
          </a:p>
        </p:txBody>
      </p:sp>
      <p:sp>
        <p:nvSpPr>
          <p:cNvPr id="5" name="Shape 3"/>
          <p:cNvSpPr/>
          <p:nvPr/>
        </p:nvSpPr>
        <p:spPr>
          <a:xfrm>
            <a:off x="4709160" y="4297680"/>
            <a:ext cx="2743200" cy="0"/>
          </a:xfrm>
          <a:prstGeom prst="line">
            <a:avLst/>
          </a:prstGeom>
          <a:noFill/>
          <a:ln w="25400">
            <a:solidFill>
              <a:srgbClr val="B1492A"/>
            </a:solidFill>
            <a:prstDash val="solid"/>
          </a:ln>
        </p:spPr>
      </p:sp>
      <p:sp>
        <p:nvSpPr>
          <p:cNvPr id="6" name="Text 4"/>
          <p:cNvSpPr txBox="1"/>
          <p:nvPr/>
        </p:nvSpPr>
        <p:spPr>
          <a:xfrm>
            <a:off x="457200" y="4572000"/>
            <a:ext cx="11247120" cy="457200"/>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Jamesy MUKUNA MUKENKETAYI  ·  vite-gourmand.fr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Vite &amp; Gourmand - Soutenance DWWM</dc:title>
  <dc:subject>PptxGenJS Presentation</dc:subject>
  <dc:creator>Jamesy MUKUNA MUKENKETAYI</dc:creator>
  <cp:lastModifiedBy>Jamesy MUKUNA MUKENKETAYI</cp:lastModifiedBy>
  <cp:revision>1</cp:revision>
  <dcterms:created xsi:type="dcterms:W3CDTF">2026-09-25T07:13:36Z</dcterms:created>
  <dcterms:modified xsi:type="dcterms:W3CDTF">2026-09-25T07:13:36Z</dcterms:modified>
</cp:coreProperties>
</file>